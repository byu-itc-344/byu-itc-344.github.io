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5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>
      <p:cViewPr varScale="1">
        <p:scale>
          <a:sx n="102" d="100"/>
          <a:sy n="102" d="100"/>
        </p:scale>
        <p:origin x="65" y="1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ndt Redd" userId="be8ed540b98adac0" providerId="LiveId" clId="{6CDF522E-9157-4198-8557-BF82FB4564DD}"/>
    <pc:docChg chg="undo custSel addSld modSld">
      <pc:chgData name="Brandt Redd" userId="be8ed540b98adac0" providerId="LiveId" clId="{6CDF522E-9157-4198-8557-BF82FB4564DD}" dt="2024-09-11T22:27:17.501" v="411" actId="14100"/>
      <pc:docMkLst>
        <pc:docMk/>
      </pc:docMkLst>
      <pc:sldChg chg="addSp modSp new mod modClrScheme chgLayout">
        <pc:chgData name="Brandt Redd" userId="be8ed540b98adac0" providerId="LiveId" clId="{6CDF522E-9157-4198-8557-BF82FB4564DD}" dt="2024-09-11T22:27:17.501" v="411" actId="14100"/>
        <pc:sldMkLst>
          <pc:docMk/>
          <pc:sldMk cId="2293806886" sldId="265"/>
        </pc:sldMkLst>
        <pc:spChg chg="add mod">
          <ac:chgData name="Brandt Redd" userId="be8ed540b98adac0" providerId="LiveId" clId="{6CDF522E-9157-4198-8557-BF82FB4564DD}" dt="2024-09-11T22:27:17.501" v="411" actId="14100"/>
          <ac:spMkLst>
            <pc:docMk/>
            <pc:sldMk cId="2293806886" sldId="265"/>
            <ac:spMk id="2" creationId="{DB6F6720-1CCD-AD9E-E540-BE27DB8D1D47}"/>
          </ac:spMkLst>
        </pc:spChg>
        <pc:spChg chg="add mod">
          <ac:chgData name="Brandt Redd" userId="be8ed540b98adac0" providerId="LiveId" clId="{6CDF522E-9157-4198-8557-BF82FB4564DD}" dt="2024-09-11T22:27:12.811" v="410" actId="27636"/>
          <ac:spMkLst>
            <pc:docMk/>
            <pc:sldMk cId="2293806886" sldId="265"/>
            <ac:spMk id="3" creationId="{DFB7399E-434B-8240-4EE3-7EA4368148BE}"/>
          </ac:spMkLst>
        </pc:spChg>
      </pc:sldChg>
    </pc:docChg>
  </pc:docChgLst>
  <pc:docChgLst>
    <pc:chgData name="Brandt Redd" userId="be8ed540b98adac0" providerId="LiveId" clId="{871FB213-9ED7-47AE-BB2E-1E88956F6BDF}"/>
    <pc:docChg chg="modSld">
      <pc:chgData name="Brandt Redd" userId="be8ed540b98adac0" providerId="LiveId" clId="{871FB213-9ED7-47AE-BB2E-1E88956F6BDF}" dt="2024-10-02T04:17:13.972" v="23" actId="1076"/>
      <pc:docMkLst>
        <pc:docMk/>
      </pc:docMkLst>
      <pc:sldChg chg="modSp mod">
        <pc:chgData name="Brandt Redd" userId="be8ed540b98adac0" providerId="LiveId" clId="{871FB213-9ED7-47AE-BB2E-1E88956F6BDF}" dt="2024-10-02T04:17:13.972" v="23" actId="1076"/>
        <pc:sldMkLst>
          <pc:docMk/>
          <pc:sldMk cId="1817147235" sldId="257"/>
        </pc:sldMkLst>
        <pc:spChg chg="mod">
          <ac:chgData name="Brandt Redd" userId="be8ed540b98adac0" providerId="LiveId" clId="{871FB213-9ED7-47AE-BB2E-1E88956F6BDF}" dt="2024-10-02T04:17:13.972" v="23" actId="1076"/>
          <ac:spMkLst>
            <pc:docMk/>
            <pc:sldMk cId="1817147235" sldId="257"/>
            <ac:spMk id="81" creationId="{2FB15E9C-79EB-460A-2C34-9EB43B72FFB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75A474-AB41-4317-A82A-FE724839B8A1}" type="datetimeFigureOut">
              <a:rPr lang="en-US" smtClean="0"/>
              <a:t>2024-10-01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C82E30-3E29-470A-BCC8-16B5AC70F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793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C82E30-3E29-470A-BCC8-16B5AC70F4C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087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2D2E5-15FC-64E4-3C18-D76EFF4BF5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E4D1FC-22FC-74AB-4928-ABB5A18308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255CD-D736-C6CF-6C5F-EFC4379F5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60B3A-CA21-4FF2-B005-6039A01FDAC2}" type="datetimeFigureOut">
              <a:rPr lang="en-US" smtClean="0"/>
              <a:t>2024-10-01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C049A-62AE-5FB2-8401-2AF213F61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179CA-1B43-4A34-666A-ABBC56ED7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8BC0F-39E8-4BE5-A606-B861536C8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36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2D4A2-C91E-976E-6F10-F3151BC9A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692A3-5C14-AA2D-3C22-131557FBE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27181-C829-54BC-8EB5-E2EAF83F1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60B3A-CA21-4FF2-B005-6039A01FDAC2}" type="datetimeFigureOut">
              <a:rPr lang="en-US" smtClean="0"/>
              <a:t>2024-10-01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A909E-16DB-3B63-3C4B-D497701E4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9D655-B2D6-36C1-E5D9-B55867E55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8BC0F-39E8-4BE5-A606-B861536C8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515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B6604-20A1-9D17-7A32-44BB8D25D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E5AAEB-5208-4781-11F7-AC4C7E72EB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D58BD-9E98-9E3B-7A14-D111ED055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60B3A-CA21-4FF2-B005-6039A01FDAC2}" type="datetimeFigureOut">
              <a:rPr lang="en-US" smtClean="0"/>
              <a:t>2024-10-01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DDF48-9A5B-0C2E-8414-12CFF0791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001E9-745C-A3E1-0CB2-F4C0F2A6F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8BC0F-39E8-4BE5-A606-B861536C8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633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6E228-ECB0-962B-BB9D-05C09CA08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8F122-1CB4-F9B0-8FCE-FEDCD6AE89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F5D2D3-25BB-626B-4CD7-D18400C80E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43C70F-E951-EDC6-933A-1350EA59D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60B3A-CA21-4FF2-B005-6039A01FDAC2}" type="datetimeFigureOut">
              <a:rPr lang="en-US" smtClean="0"/>
              <a:t>2024-10-01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53B588-D8FF-ECC3-5316-EA043EE6E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6113D-DE5C-1AC5-A18F-0441F856F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8BC0F-39E8-4BE5-A606-B861536C8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738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31111-302F-90BF-65BA-3F9357A55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9CB76A-4FE3-F24A-6754-73D18B633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31D882-04F5-324E-6FC9-75EE5EF52E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11EAA1-0E9F-E7C6-9A45-5DB35AE8B2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FD62B0-E291-6E57-C637-4FE2072062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DEA1F8-AF17-AA23-6A51-0637E122A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60B3A-CA21-4FF2-B005-6039A01FDAC2}" type="datetimeFigureOut">
              <a:rPr lang="en-US" smtClean="0"/>
              <a:t>2024-10-01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53A7B2-C5A2-E263-2D2B-A2980AF77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9FCA12-C18A-F88A-C90C-6AC6EBC2E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8BC0F-39E8-4BE5-A606-B861536C8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642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13322-817E-C93E-A6D9-11AFAAC76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E0D0DA-4779-663E-CFD2-3B4923AAD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60B3A-CA21-4FF2-B005-6039A01FDAC2}" type="datetimeFigureOut">
              <a:rPr lang="en-US" smtClean="0"/>
              <a:t>2024-10-01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076AD0-D594-7723-E56E-228F1AD1D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547F80-E146-44F7-D224-1FD86AD9E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8BC0F-39E8-4BE5-A606-B861536C8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3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F7C354-FD2C-BEA4-BB4B-A2464D53E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60B3A-CA21-4FF2-B005-6039A01FDAC2}" type="datetimeFigureOut">
              <a:rPr lang="en-US" smtClean="0"/>
              <a:t>2024-10-01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B7F27A-0544-4C76-D6DA-ECCEE987A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54E6F-5E0D-D024-72BA-5B8B3168C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8BC0F-39E8-4BE5-A606-B861536C8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145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DD24B-7C47-B082-E1EC-C428AE9D5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99CD3-E7E1-BE0B-E02F-8ED24450E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E5127F-ECAE-E25C-C699-4D65DD31D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D80FD-964A-D858-6984-9E2C7B651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60B3A-CA21-4FF2-B005-6039A01FDAC2}" type="datetimeFigureOut">
              <a:rPr lang="en-US" smtClean="0"/>
              <a:t>2024-10-01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0194FE-EE13-9631-4522-FD02AB4FC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C29B2F-1C78-EF59-7507-64DE2348B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8BC0F-39E8-4BE5-A606-B861536C8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363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59AB3-5EFB-823B-0F4F-91720C825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DBEE04-8750-861E-054A-559208D399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28CB8-A313-5B31-6E99-8DD7FA5EC6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483B34-2432-4F55-5E6B-E55615185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60B3A-CA21-4FF2-B005-6039A01FDAC2}" type="datetimeFigureOut">
              <a:rPr lang="en-US" smtClean="0"/>
              <a:t>2024-10-01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FE9E48-28BF-AB12-E3CE-BBA8AE3B6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0AB03C-10BF-A6E1-442C-23FD1FDB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8BC0F-39E8-4BE5-A606-B861536C8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349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B3498-0812-CB96-6FFB-B0F9A07A1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E120B1-6C14-151E-DEF6-7D6F664C52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DAEB6-3FD3-EF24-A955-6E81B7DE0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60B3A-CA21-4FF2-B005-6039A01FDAC2}" type="datetimeFigureOut">
              <a:rPr lang="en-US" smtClean="0"/>
              <a:t>2024-10-01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FEDF4-6168-D284-3A77-0E3F60ABF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D56261-D26F-70F4-381F-643B5AFD2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8BC0F-39E8-4BE5-A606-B861536C8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366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3DA2A1-AAEC-160A-625D-5ADD8B13D3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93B53E-1110-720F-5433-2D9A79C021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94931-644A-321C-F3FE-03E554392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60B3A-CA21-4FF2-B005-6039A01FDAC2}" type="datetimeFigureOut">
              <a:rPr lang="en-US" smtClean="0"/>
              <a:t>2024-10-01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C9EE7-1985-3DE3-E13B-9584C415D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CEA23-5700-A272-AAF2-D3ADC5DB3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8BC0F-39E8-4BE5-A606-B861536C8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971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F35202-A3D3-57B6-A8FF-532317C02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3DD65C-B70D-AA5D-18D3-671BF767E9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8DB9F-8F7D-7167-6F78-BDAE1AD6E2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760B3A-CA21-4FF2-B005-6039A01FDAC2}" type="datetimeFigureOut">
              <a:rPr lang="en-US" smtClean="0"/>
              <a:t>2024-10-01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F6045-C585-205B-9BDE-11341B9105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E1F52E-2A1E-CF31-1489-D2A8CBB25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28BC0F-39E8-4BE5-A606-B861536C8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114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to/paschalogu/how-i-deployed-my-website-as-a-container-3fje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35C8C-ED7C-7E09-C269-C974FA4FDF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VMs and Containers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F372BC-29B6-E610-8C55-781945A6B0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IT&amp;C 344 – S02</a:t>
            </a:r>
          </a:p>
        </p:txBody>
      </p:sp>
    </p:spTree>
    <p:extLst>
      <p:ext uri="{BB962C8B-B14F-4D97-AF65-F5344CB8AC3E}">
        <p14:creationId xmlns:p14="http://schemas.microsoft.com/office/powerpoint/2010/main" val="2966027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5E660FF-99BC-63BA-8BD4-EC41D3913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Virtualization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6ECB2C9-7B75-A4A5-548D-C65DD23B66EB}"/>
              </a:ext>
            </a:extLst>
          </p:cNvPr>
          <p:cNvSpPr/>
          <p:nvPr/>
        </p:nvSpPr>
        <p:spPr>
          <a:xfrm>
            <a:off x="1505404" y="4958799"/>
            <a:ext cx="2819400" cy="50034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Host Hardware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8F13436-4C8C-50F0-5907-F6042CD3E352}"/>
              </a:ext>
            </a:extLst>
          </p:cNvPr>
          <p:cNvSpPr/>
          <p:nvPr/>
        </p:nvSpPr>
        <p:spPr>
          <a:xfrm>
            <a:off x="1501217" y="4424168"/>
            <a:ext cx="2819400" cy="50034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Host OS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EF6A597-54CC-B68A-9E86-0350453A3D36}"/>
              </a:ext>
            </a:extLst>
          </p:cNvPr>
          <p:cNvSpPr/>
          <p:nvPr/>
        </p:nvSpPr>
        <p:spPr>
          <a:xfrm>
            <a:off x="1501217" y="3891166"/>
            <a:ext cx="2819400" cy="5003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Virtualization Software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0C52FB8-2BD7-A935-F3B3-C2CD9811BB4F}"/>
              </a:ext>
            </a:extLst>
          </p:cNvPr>
          <p:cNvSpPr/>
          <p:nvPr/>
        </p:nvSpPr>
        <p:spPr>
          <a:xfrm>
            <a:off x="1501217" y="3357368"/>
            <a:ext cx="762000" cy="50034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Guest OS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19DACA4-6BAE-15D8-DC65-0E0C1093104F}"/>
              </a:ext>
            </a:extLst>
          </p:cNvPr>
          <p:cNvSpPr/>
          <p:nvPr/>
        </p:nvSpPr>
        <p:spPr>
          <a:xfrm>
            <a:off x="1501217" y="2297307"/>
            <a:ext cx="762000" cy="5003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 A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5886E8B-CA09-D886-2987-15297ECF1F5E}"/>
              </a:ext>
            </a:extLst>
          </p:cNvPr>
          <p:cNvSpPr/>
          <p:nvPr/>
        </p:nvSpPr>
        <p:spPr>
          <a:xfrm>
            <a:off x="2529917" y="3357368"/>
            <a:ext cx="762000" cy="50034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Guest OS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90AF1B7-C967-7412-0D39-C8C2B4624F8F}"/>
              </a:ext>
            </a:extLst>
          </p:cNvPr>
          <p:cNvSpPr/>
          <p:nvPr/>
        </p:nvSpPr>
        <p:spPr>
          <a:xfrm>
            <a:off x="2529917" y="2297307"/>
            <a:ext cx="762000" cy="5003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 A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0070232-519F-6264-30A9-11B82657C2CA}"/>
              </a:ext>
            </a:extLst>
          </p:cNvPr>
          <p:cNvSpPr/>
          <p:nvPr/>
        </p:nvSpPr>
        <p:spPr>
          <a:xfrm>
            <a:off x="3558617" y="3357368"/>
            <a:ext cx="762000" cy="50034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Guest OS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3CC7C35-49E3-465B-6561-D04AD806DCBA}"/>
              </a:ext>
            </a:extLst>
          </p:cNvPr>
          <p:cNvSpPr/>
          <p:nvPr/>
        </p:nvSpPr>
        <p:spPr>
          <a:xfrm>
            <a:off x="3558617" y="2297307"/>
            <a:ext cx="762000" cy="500349"/>
          </a:xfrm>
          <a:prstGeom prst="rect">
            <a:avLst/>
          </a:prstGeom>
          <a:solidFill>
            <a:srgbClr val="64BC58"/>
          </a:solidFill>
          <a:ln>
            <a:solidFill>
              <a:srgbClr val="499C3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 B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152980A-2FD8-F3FE-FDE6-ADA04A8E892A}"/>
              </a:ext>
            </a:extLst>
          </p:cNvPr>
          <p:cNvSpPr/>
          <p:nvPr/>
        </p:nvSpPr>
        <p:spPr>
          <a:xfrm>
            <a:off x="1501217" y="2822737"/>
            <a:ext cx="762000" cy="50034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Bins/ Libs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A5B21AA-B9A5-24CC-7E8D-58CDBB29A51F}"/>
              </a:ext>
            </a:extLst>
          </p:cNvPr>
          <p:cNvSpPr/>
          <p:nvPr/>
        </p:nvSpPr>
        <p:spPr>
          <a:xfrm>
            <a:off x="2529917" y="2822737"/>
            <a:ext cx="762000" cy="50034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Bins/ Libs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EA8EAE4-E636-20C9-54B1-1CA4AF404FD5}"/>
              </a:ext>
            </a:extLst>
          </p:cNvPr>
          <p:cNvSpPr/>
          <p:nvPr/>
        </p:nvSpPr>
        <p:spPr>
          <a:xfrm>
            <a:off x="3558617" y="2822737"/>
            <a:ext cx="762000" cy="5003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Bins/ Libs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6C3D8EE-B04C-656A-6D4C-678614FE6FA6}"/>
              </a:ext>
            </a:extLst>
          </p:cNvPr>
          <p:cNvSpPr/>
          <p:nvPr/>
        </p:nvSpPr>
        <p:spPr>
          <a:xfrm>
            <a:off x="4419600" y="4953000"/>
            <a:ext cx="2819400" cy="50034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Host Hardware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DD72377-4422-0165-473D-3F15C8B6BDFF}"/>
              </a:ext>
            </a:extLst>
          </p:cNvPr>
          <p:cNvSpPr/>
          <p:nvPr/>
        </p:nvSpPr>
        <p:spPr>
          <a:xfrm>
            <a:off x="4415413" y="4418369"/>
            <a:ext cx="2819400" cy="50034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Host OS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3A4B040-C5CA-7932-E2DB-998D809B2721}"/>
              </a:ext>
            </a:extLst>
          </p:cNvPr>
          <p:cNvSpPr/>
          <p:nvPr/>
        </p:nvSpPr>
        <p:spPr>
          <a:xfrm>
            <a:off x="4415413" y="3883738"/>
            <a:ext cx="1219200" cy="50034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Bins/ Libs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067189B-9F27-52A2-BFA4-E5E73699C97B}"/>
              </a:ext>
            </a:extLst>
          </p:cNvPr>
          <p:cNvSpPr/>
          <p:nvPr/>
        </p:nvSpPr>
        <p:spPr>
          <a:xfrm>
            <a:off x="5710814" y="3883738"/>
            <a:ext cx="752520" cy="5003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Bins/ Libs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332EFE8-B33F-419D-CAB8-9301A4A6E888}"/>
              </a:ext>
            </a:extLst>
          </p:cNvPr>
          <p:cNvSpPr/>
          <p:nvPr/>
        </p:nvSpPr>
        <p:spPr>
          <a:xfrm>
            <a:off x="4415413" y="2791857"/>
            <a:ext cx="363682" cy="10575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2E5BDF0-4583-DEB3-3B4C-A8AEAE71E396}"/>
              </a:ext>
            </a:extLst>
          </p:cNvPr>
          <p:cNvSpPr txBox="1"/>
          <p:nvPr/>
        </p:nvSpPr>
        <p:spPr>
          <a:xfrm rot="5400000">
            <a:off x="4200282" y="3166903"/>
            <a:ext cx="799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 A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94CCE98-6E58-012B-3A36-1AE9830DC611}"/>
              </a:ext>
            </a:extLst>
          </p:cNvPr>
          <p:cNvSpPr/>
          <p:nvPr/>
        </p:nvSpPr>
        <p:spPr>
          <a:xfrm>
            <a:off x="4840163" y="2788487"/>
            <a:ext cx="363682" cy="106516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E04D826-7332-61A6-F8F5-4884CFC90E30}"/>
              </a:ext>
            </a:extLst>
          </p:cNvPr>
          <p:cNvSpPr txBox="1"/>
          <p:nvPr/>
        </p:nvSpPr>
        <p:spPr>
          <a:xfrm rot="5400000">
            <a:off x="4657482" y="3163533"/>
            <a:ext cx="799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 A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0C2E0BC-7C28-3C70-8C3C-834C7E1D09E9}"/>
              </a:ext>
            </a:extLst>
          </p:cNvPr>
          <p:cNvSpPr/>
          <p:nvPr/>
        </p:nvSpPr>
        <p:spPr>
          <a:xfrm>
            <a:off x="5270931" y="2797657"/>
            <a:ext cx="363682" cy="1051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B880789-F721-4AE9-412D-7D5EA1904F0E}"/>
              </a:ext>
            </a:extLst>
          </p:cNvPr>
          <p:cNvSpPr txBox="1"/>
          <p:nvPr/>
        </p:nvSpPr>
        <p:spPr>
          <a:xfrm rot="5400000">
            <a:off x="5055800" y="3172702"/>
            <a:ext cx="799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 A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2979A82-A967-3F6B-9284-623185CD9463}"/>
              </a:ext>
            </a:extLst>
          </p:cNvPr>
          <p:cNvSpPr/>
          <p:nvPr/>
        </p:nvSpPr>
        <p:spPr>
          <a:xfrm>
            <a:off x="5700421" y="2797657"/>
            <a:ext cx="363682" cy="1051800"/>
          </a:xfrm>
          <a:prstGeom prst="rect">
            <a:avLst/>
          </a:prstGeom>
          <a:solidFill>
            <a:srgbClr val="64BC58"/>
          </a:solidFill>
          <a:ln>
            <a:solidFill>
              <a:srgbClr val="499C3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E8A5188-7222-887F-C675-3CBE220FD16C}"/>
              </a:ext>
            </a:extLst>
          </p:cNvPr>
          <p:cNvSpPr txBox="1"/>
          <p:nvPr/>
        </p:nvSpPr>
        <p:spPr>
          <a:xfrm rot="5400000">
            <a:off x="5485290" y="3172702"/>
            <a:ext cx="79959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 B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4C7C85B-3069-DAD3-9AC3-890757B85852}"/>
              </a:ext>
            </a:extLst>
          </p:cNvPr>
          <p:cNvSpPr/>
          <p:nvPr/>
        </p:nvSpPr>
        <p:spPr>
          <a:xfrm>
            <a:off x="6099651" y="2797657"/>
            <a:ext cx="363682" cy="1051800"/>
          </a:xfrm>
          <a:prstGeom prst="rect">
            <a:avLst/>
          </a:prstGeom>
          <a:solidFill>
            <a:srgbClr val="64BC58"/>
          </a:solidFill>
          <a:ln>
            <a:solidFill>
              <a:srgbClr val="499C3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BC74A4F-D4DC-B149-9E09-A295E8CA8BFC}"/>
              </a:ext>
            </a:extLst>
          </p:cNvPr>
          <p:cNvSpPr txBox="1"/>
          <p:nvPr/>
        </p:nvSpPr>
        <p:spPr>
          <a:xfrm rot="5400000">
            <a:off x="5894000" y="3172702"/>
            <a:ext cx="79959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 B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FF65B97-21A9-088E-58FA-AF07027AE242}"/>
              </a:ext>
            </a:extLst>
          </p:cNvPr>
          <p:cNvSpPr txBox="1"/>
          <p:nvPr/>
        </p:nvSpPr>
        <p:spPr>
          <a:xfrm rot="5400000">
            <a:off x="6308360" y="3172702"/>
            <a:ext cx="79959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 A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A57E9C0-798A-ED5E-2788-0D9B82ABB90D}"/>
              </a:ext>
            </a:extLst>
          </p:cNvPr>
          <p:cNvSpPr txBox="1"/>
          <p:nvPr/>
        </p:nvSpPr>
        <p:spPr>
          <a:xfrm rot="5400000">
            <a:off x="6672042" y="3182734"/>
            <a:ext cx="79959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 A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87BF77B-2430-6FFE-6B9D-D8192336DCF2}"/>
              </a:ext>
            </a:extLst>
          </p:cNvPr>
          <p:cNvSpPr/>
          <p:nvPr/>
        </p:nvSpPr>
        <p:spPr>
          <a:xfrm>
            <a:off x="6530417" y="2797656"/>
            <a:ext cx="704396" cy="158642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34346DF-B58E-DA54-20E6-9AE80D891565}"/>
              </a:ext>
            </a:extLst>
          </p:cNvPr>
          <p:cNvSpPr txBox="1"/>
          <p:nvPr/>
        </p:nvSpPr>
        <p:spPr>
          <a:xfrm rot="5400000">
            <a:off x="6148431" y="3287178"/>
            <a:ext cx="14683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Virtualization</a:t>
            </a:r>
            <a:b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Software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FB15E9C-79EB-460A-2C34-9EB43B72FFB5}"/>
              </a:ext>
            </a:extLst>
          </p:cNvPr>
          <p:cNvSpPr txBox="1"/>
          <p:nvPr/>
        </p:nvSpPr>
        <p:spPr>
          <a:xfrm>
            <a:off x="1806017" y="5457492"/>
            <a:ext cx="22097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Virtual Machines (Type 2 Hypervisor)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48C0B33-DEB9-CA20-4502-636F794201A5}"/>
              </a:ext>
            </a:extLst>
          </p:cNvPr>
          <p:cNvSpPr txBox="1"/>
          <p:nvPr/>
        </p:nvSpPr>
        <p:spPr>
          <a:xfrm>
            <a:off x="4986912" y="5452831"/>
            <a:ext cx="1790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Containers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E006349-29B0-3C3B-A702-9AB65D4F7CCC}"/>
              </a:ext>
            </a:extLst>
          </p:cNvPr>
          <p:cNvSpPr/>
          <p:nvPr/>
        </p:nvSpPr>
        <p:spPr>
          <a:xfrm>
            <a:off x="7329609" y="4956097"/>
            <a:ext cx="2819400" cy="50034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Host Hardware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F8F67F5-A5E6-3D46-DCF8-161699C09BA0}"/>
              </a:ext>
            </a:extLst>
          </p:cNvPr>
          <p:cNvSpPr/>
          <p:nvPr/>
        </p:nvSpPr>
        <p:spPr>
          <a:xfrm>
            <a:off x="7327152" y="4421733"/>
            <a:ext cx="2819400" cy="5003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Virtualization Software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CB17DBF8-1B4D-F569-6C55-10E41693E823}"/>
              </a:ext>
            </a:extLst>
          </p:cNvPr>
          <p:cNvSpPr/>
          <p:nvPr/>
        </p:nvSpPr>
        <p:spPr>
          <a:xfrm>
            <a:off x="7327152" y="3887935"/>
            <a:ext cx="762000" cy="50034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Guest OS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17125E51-F549-4087-E624-8AC319A41A59}"/>
              </a:ext>
            </a:extLst>
          </p:cNvPr>
          <p:cNvSpPr/>
          <p:nvPr/>
        </p:nvSpPr>
        <p:spPr>
          <a:xfrm>
            <a:off x="7327152" y="2827874"/>
            <a:ext cx="762000" cy="5003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 A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91797497-B3CB-9607-C26C-F25C898F5A3D}"/>
              </a:ext>
            </a:extLst>
          </p:cNvPr>
          <p:cNvSpPr/>
          <p:nvPr/>
        </p:nvSpPr>
        <p:spPr>
          <a:xfrm>
            <a:off x="8355852" y="3887935"/>
            <a:ext cx="762000" cy="50034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Guest OS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3570A701-6695-6C52-2EC4-6E7E07ACAFDB}"/>
              </a:ext>
            </a:extLst>
          </p:cNvPr>
          <p:cNvSpPr/>
          <p:nvPr/>
        </p:nvSpPr>
        <p:spPr>
          <a:xfrm>
            <a:off x="8355852" y="2827874"/>
            <a:ext cx="762000" cy="5003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 A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73E6F71-9B1A-DA4E-3AC6-E4792645E880}"/>
              </a:ext>
            </a:extLst>
          </p:cNvPr>
          <p:cNvSpPr/>
          <p:nvPr/>
        </p:nvSpPr>
        <p:spPr>
          <a:xfrm>
            <a:off x="9384552" y="3887935"/>
            <a:ext cx="762000" cy="50034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Guest OS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41E49010-57DB-1772-2C1F-80518A191711}"/>
              </a:ext>
            </a:extLst>
          </p:cNvPr>
          <p:cNvSpPr/>
          <p:nvPr/>
        </p:nvSpPr>
        <p:spPr>
          <a:xfrm>
            <a:off x="9384552" y="2827874"/>
            <a:ext cx="762000" cy="500349"/>
          </a:xfrm>
          <a:prstGeom prst="rect">
            <a:avLst/>
          </a:prstGeom>
          <a:solidFill>
            <a:srgbClr val="64BC58"/>
          </a:solidFill>
          <a:ln>
            <a:solidFill>
              <a:srgbClr val="499C3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 B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3A15AEDC-AA1C-E860-F434-DABF5C3A1150}"/>
              </a:ext>
            </a:extLst>
          </p:cNvPr>
          <p:cNvSpPr/>
          <p:nvPr/>
        </p:nvSpPr>
        <p:spPr>
          <a:xfrm>
            <a:off x="7327152" y="3353304"/>
            <a:ext cx="762000" cy="50034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Bins/ Libs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2CE4C9F-CA24-63C8-59B0-FD889C7BD2F9}"/>
              </a:ext>
            </a:extLst>
          </p:cNvPr>
          <p:cNvSpPr/>
          <p:nvPr/>
        </p:nvSpPr>
        <p:spPr>
          <a:xfrm>
            <a:off x="8355852" y="3353304"/>
            <a:ext cx="762000" cy="50034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Bins/ Libs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453EE949-7725-F778-BAD6-E5C396963F15}"/>
              </a:ext>
            </a:extLst>
          </p:cNvPr>
          <p:cNvSpPr/>
          <p:nvPr/>
        </p:nvSpPr>
        <p:spPr>
          <a:xfrm>
            <a:off x="9384552" y="3353304"/>
            <a:ext cx="762000" cy="5003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Bins/ Libs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2AC2BED-3713-361B-BAD2-8FA1DACF3372}"/>
              </a:ext>
            </a:extLst>
          </p:cNvPr>
          <p:cNvSpPr txBox="1"/>
          <p:nvPr/>
        </p:nvSpPr>
        <p:spPr>
          <a:xfrm>
            <a:off x="7699851" y="5458302"/>
            <a:ext cx="2209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Hypervisor (Type 1)</a:t>
            </a:r>
          </a:p>
        </p:txBody>
      </p:sp>
    </p:spTree>
    <p:extLst>
      <p:ext uri="{BB962C8B-B14F-4D97-AF65-F5344CB8AC3E}">
        <p14:creationId xmlns:p14="http://schemas.microsoft.com/office/powerpoint/2010/main" val="1817147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8B5476-5DA9-C4B0-BE58-4E62AA887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/>
              <a:t>Windows Sandbox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63D34-E4ED-2166-39AA-F7BBDCF49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en-US" sz="2200"/>
              <a:t>Bundled with Windows Pro</a:t>
            </a:r>
          </a:p>
          <a:p>
            <a:r>
              <a:rPr lang="en-US" sz="2200"/>
              <a:t>A temporary VM that goes away when you exit</a:t>
            </a:r>
          </a:p>
          <a:p>
            <a:r>
              <a:rPr lang="en-US" sz="2200"/>
              <a:t>A great place for accessing suspicious websites or software</a:t>
            </a:r>
          </a:p>
          <a:p>
            <a:r>
              <a:rPr lang="en-US" sz="2200"/>
              <a:t>Also to avoid bloat from certain products (e.g. Adobe) 😬</a:t>
            </a:r>
          </a:p>
        </p:txBody>
      </p:sp>
      <p:pic>
        <p:nvPicPr>
          <p:cNvPr id="5" name="Picture 4" descr="Antelope on top of a sand dune">
            <a:extLst>
              <a:ext uri="{FF2B5EF4-FFF2-40B4-BE49-F238E27FC236}">
                <a16:creationId xmlns:a16="http://schemas.microsoft.com/office/drawing/2014/main" id="{AA73C9FF-3E84-FDF7-6805-BBA67B4571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39" r="8083" b="-3"/>
          <a:stretch/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692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E3187-34B7-3854-FF1C-279AD561A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VMCeption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C5CA96-A0BC-866B-8AC8-B137E6B59DA1}"/>
              </a:ext>
            </a:extLst>
          </p:cNvPr>
          <p:cNvSpPr/>
          <p:nvPr/>
        </p:nvSpPr>
        <p:spPr>
          <a:xfrm>
            <a:off x="381000" y="1671638"/>
            <a:ext cx="11582400" cy="4740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/>
              <a:t>Hardware running </a:t>
            </a:r>
            <a:r>
              <a:rPr lang="en-US" dirty="0" err="1"/>
              <a:t>Proxmox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68B887-C187-362D-43A4-15099EC7C923}"/>
              </a:ext>
            </a:extLst>
          </p:cNvPr>
          <p:cNvSpPr/>
          <p:nvPr/>
        </p:nvSpPr>
        <p:spPr>
          <a:xfrm>
            <a:off x="762000" y="2209800"/>
            <a:ext cx="5638800" cy="37338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/>
              <a:t>Your VM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A4D96B-0557-2766-A249-FC0457E15E02}"/>
              </a:ext>
            </a:extLst>
          </p:cNvPr>
          <p:cNvSpPr/>
          <p:nvPr/>
        </p:nvSpPr>
        <p:spPr>
          <a:xfrm>
            <a:off x="1219200" y="2667000"/>
            <a:ext cx="1447800" cy="310356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/>
              <a:t>Windows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F11D72-5F9D-77B5-82BC-EF8222A2D2B6}"/>
              </a:ext>
            </a:extLst>
          </p:cNvPr>
          <p:cNvSpPr/>
          <p:nvPr/>
        </p:nvSpPr>
        <p:spPr>
          <a:xfrm>
            <a:off x="2857500" y="2667000"/>
            <a:ext cx="1447800" cy="310356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/>
              <a:t>Ubuntu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099A3F-DE51-0937-1774-06D3012D78C0}"/>
              </a:ext>
            </a:extLst>
          </p:cNvPr>
          <p:cNvSpPr/>
          <p:nvPr/>
        </p:nvSpPr>
        <p:spPr>
          <a:xfrm>
            <a:off x="4505325" y="2667000"/>
            <a:ext cx="1447800" cy="310356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/>
              <a:t>Arch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48188C-6493-D806-314F-87EB78719A4A}"/>
              </a:ext>
            </a:extLst>
          </p:cNvPr>
          <p:cNvSpPr/>
          <p:nvPr/>
        </p:nvSpPr>
        <p:spPr>
          <a:xfrm>
            <a:off x="6524625" y="2238375"/>
            <a:ext cx="5057775" cy="37338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/>
              <a:t>Classmate’s VM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991689-02EF-B992-BDFF-ABB331704038}"/>
              </a:ext>
            </a:extLst>
          </p:cNvPr>
          <p:cNvSpPr/>
          <p:nvPr/>
        </p:nvSpPr>
        <p:spPr>
          <a:xfrm>
            <a:off x="6981825" y="2695575"/>
            <a:ext cx="1447800" cy="310356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/>
              <a:t>Windows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9BF7DF-CAEF-B242-CB8D-1260F251DFDC}"/>
              </a:ext>
            </a:extLst>
          </p:cNvPr>
          <p:cNvSpPr/>
          <p:nvPr/>
        </p:nvSpPr>
        <p:spPr>
          <a:xfrm>
            <a:off x="8620125" y="2695575"/>
            <a:ext cx="1447800" cy="310356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/>
              <a:t>Ubuntu</a:t>
            </a:r>
          </a:p>
        </p:txBody>
      </p:sp>
    </p:spTree>
    <p:extLst>
      <p:ext uri="{BB962C8B-B14F-4D97-AF65-F5344CB8AC3E}">
        <p14:creationId xmlns:p14="http://schemas.microsoft.com/office/powerpoint/2010/main" val="3655008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30F79-F528-FD3B-6381-D5B4F0DCB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Machine States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FF799C2-41A5-77C2-1E84-EBB04E7D0BB8}"/>
              </a:ext>
            </a:extLst>
          </p:cNvPr>
          <p:cNvGrpSpPr/>
          <p:nvPr/>
        </p:nvGrpSpPr>
        <p:grpSpPr>
          <a:xfrm>
            <a:off x="381000" y="1671639"/>
            <a:ext cx="3048000" cy="2290762"/>
            <a:chOff x="381000" y="1671639"/>
            <a:chExt cx="3048000" cy="229076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D101933-342D-83DF-D841-6214E9974D6C}"/>
                </a:ext>
              </a:extLst>
            </p:cNvPr>
            <p:cNvSpPr/>
            <p:nvPr/>
          </p:nvSpPr>
          <p:spPr>
            <a:xfrm>
              <a:off x="381000" y="1671639"/>
              <a:ext cx="3048000" cy="2290762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dirty="0">
                  <a:solidFill>
                    <a:schemeClr val="tx1"/>
                  </a:solidFill>
                </a:rPr>
                <a:t>VM Image</a:t>
              </a:r>
            </a:p>
          </p:txBody>
        </p:sp>
        <p:sp>
          <p:nvSpPr>
            <p:cNvPr id="5" name="Cylinder 4">
              <a:extLst>
                <a:ext uri="{FF2B5EF4-FFF2-40B4-BE49-F238E27FC236}">
                  <a16:creationId xmlns:a16="http://schemas.microsoft.com/office/drawing/2014/main" id="{52A29A7D-5BC2-8488-196B-E21411C88981}"/>
                </a:ext>
              </a:extLst>
            </p:cNvPr>
            <p:cNvSpPr/>
            <p:nvPr/>
          </p:nvSpPr>
          <p:spPr>
            <a:xfrm>
              <a:off x="685800" y="2514600"/>
              <a:ext cx="1066800" cy="914400"/>
            </a:xfrm>
            <a:prstGeom prst="can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Disk</a:t>
              </a:r>
              <a:br>
                <a:rPr lang="en-US" dirty="0"/>
              </a:br>
              <a:r>
                <a:rPr lang="en-US" dirty="0"/>
                <a:t>Image</a:t>
              </a:r>
            </a:p>
          </p:txBody>
        </p:sp>
        <p:sp>
          <p:nvSpPr>
            <p:cNvPr id="6" name="Plaque 5">
              <a:extLst>
                <a:ext uri="{FF2B5EF4-FFF2-40B4-BE49-F238E27FC236}">
                  <a16:creationId xmlns:a16="http://schemas.microsoft.com/office/drawing/2014/main" id="{2E904CAC-0263-2A75-F808-F4EA5481F254}"/>
                </a:ext>
              </a:extLst>
            </p:cNvPr>
            <p:cNvSpPr/>
            <p:nvPr/>
          </p:nvSpPr>
          <p:spPr>
            <a:xfrm>
              <a:off x="1938337" y="2540002"/>
              <a:ext cx="1343025" cy="914400"/>
            </a:xfrm>
            <a:prstGeom prst="plaque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Config-</a:t>
              </a:r>
              <a:r>
                <a:rPr lang="en-US" dirty="0" err="1"/>
                <a:t>uration</a:t>
              </a:r>
              <a:endParaRPr lang="en-US"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DDD1FBA-F00B-DC8B-EBA6-ACF5A157CE0E}"/>
              </a:ext>
            </a:extLst>
          </p:cNvPr>
          <p:cNvSpPr txBox="1"/>
          <p:nvPr/>
        </p:nvSpPr>
        <p:spPr>
          <a:xfrm>
            <a:off x="304800" y="4303716"/>
            <a:ext cx="3429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Configuration: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Processor (type, # of cores)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Mounted volumes (e.g. ISOs)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Network Connections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Simulated hardware (video, removable drives, etc.)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7E5782A-714D-2C90-78CC-53361B62C54C}"/>
              </a:ext>
            </a:extLst>
          </p:cNvPr>
          <p:cNvGrpSpPr/>
          <p:nvPr/>
        </p:nvGrpSpPr>
        <p:grpSpPr>
          <a:xfrm>
            <a:off x="4419600" y="1662113"/>
            <a:ext cx="3048000" cy="3014661"/>
            <a:chOff x="4419600" y="1662113"/>
            <a:chExt cx="3048000" cy="301466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DACCE0-9E9D-7EAD-3949-FFB80655740C}"/>
                </a:ext>
              </a:extLst>
            </p:cNvPr>
            <p:cNvSpPr/>
            <p:nvPr/>
          </p:nvSpPr>
          <p:spPr>
            <a:xfrm>
              <a:off x="4419600" y="1662113"/>
              <a:ext cx="3048000" cy="3014661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dirty="0">
                  <a:solidFill>
                    <a:schemeClr val="tx1"/>
                  </a:solidFill>
                </a:rPr>
                <a:t>Virtual Machine (Running)</a:t>
              </a:r>
            </a:p>
          </p:txBody>
        </p:sp>
        <p:sp>
          <p:nvSpPr>
            <p:cNvPr id="9" name="Cylinder 8">
              <a:extLst>
                <a:ext uri="{FF2B5EF4-FFF2-40B4-BE49-F238E27FC236}">
                  <a16:creationId xmlns:a16="http://schemas.microsoft.com/office/drawing/2014/main" id="{362C5CD3-57A2-8D24-A54A-1DA1297EFFE1}"/>
                </a:ext>
              </a:extLst>
            </p:cNvPr>
            <p:cNvSpPr/>
            <p:nvPr/>
          </p:nvSpPr>
          <p:spPr>
            <a:xfrm>
              <a:off x="4624388" y="2489198"/>
              <a:ext cx="1066800" cy="914400"/>
            </a:xfrm>
            <a:prstGeom prst="can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Disk</a:t>
              </a:r>
              <a:br>
                <a:rPr lang="en-US" dirty="0"/>
              </a:br>
              <a:r>
                <a:rPr lang="en-US" dirty="0"/>
                <a:t>Image</a:t>
              </a:r>
            </a:p>
          </p:txBody>
        </p:sp>
        <p:sp>
          <p:nvSpPr>
            <p:cNvPr id="10" name="Plaque 9">
              <a:extLst>
                <a:ext uri="{FF2B5EF4-FFF2-40B4-BE49-F238E27FC236}">
                  <a16:creationId xmlns:a16="http://schemas.microsoft.com/office/drawing/2014/main" id="{2B6B0AF8-FB06-B485-E0F3-2A2F63651438}"/>
                </a:ext>
              </a:extLst>
            </p:cNvPr>
            <p:cNvSpPr/>
            <p:nvPr/>
          </p:nvSpPr>
          <p:spPr>
            <a:xfrm>
              <a:off x="5876925" y="2514600"/>
              <a:ext cx="1343025" cy="914400"/>
            </a:xfrm>
            <a:prstGeom prst="plaque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Config-</a:t>
              </a:r>
              <a:r>
                <a:rPr lang="en-US" dirty="0" err="1"/>
                <a:t>uration</a:t>
              </a:r>
              <a:endParaRPr lang="en-US" dirty="0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F80D173C-11F1-A0C8-1972-349ACCF634E7}"/>
                </a:ext>
              </a:extLst>
            </p:cNvPr>
            <p:cNvSpPr/>
            <p:nvPr/>
          </p:nvSpPr>
          <p:spPr>
            <a:xfrm>
              <a:off x="4624388" y="3557594"/>
              <a:ext cx="1166812" cy="965198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Memory</a:t>
              </a:r>
            </a:p>
          </p:txBody>
        </p:sp>
        <p:sp>
          <p:nvSpPr>
            <p:cNvPr id="12" name="Decagon 11">
              <a:extLst>
                <a:ext uri="{FF2B5EF4-FFF2-40B4-BE49-F238E27FC236}">
                  <a16:creationId xmlns:a16="http://schemas.microsoft.com/office/drawing/2014/main" id="{B50C41A6-ADD6-CA17-CECF-9BA8CA4F5AA9}"/>
                </a:ext>
              </a:extLst>
            </p:cNvPr>
            <p:cNvSpPr/>
            <p:nvPr/>
          </p:nvSpPr>
          <p:spPr>
            <a:xfrm>
              <a:off x="5995988" y="3557594"/>
              <a:ext cx="1185862" cy="965198"/>
            </a:xfrm>
            <a:prstGeom prst="decag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HW</a:t>
              </a:r>
            </a:p>
            <a:p>
              <a:pPr algn="ctr"/>
              <a:r>
                <a:rPr lang="en-US" dirty="0"/>
                <a:t>State</a:t>
              </a:r>
            </a:p>
          </p:txBody>
        </p:sp>
      </p:grp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3DE9B336-B39D-8CD0-50B3-2AADAACA3379}"/>
              </a:ext>
            </a:extLst>
          </p:cNvPr>
          <p:cNvSpPr/>
          <p:nvPr/>
        </p:nvSpPr>
        <p:spPr>
          <a:xfrm>
            <a:off x="3614737" y="2407443"/>
            <a:ext cx="719138" cy="762000"/>
          </a:xfrm>
          <a:prstGeom prst="rightArrow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600" dirty="0"/>
              <a:t>Boot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A5C8806-95C8-1C93-6869-49753C98D7A1}"/>
              </a:ext>
            </a:extLst>
          </p:cNvPr>
          <p:cNvGrpSpPr/>
          <p:nvPr/>
        </p:nvGrpSpPr>
        <p:grpSpPr>
          <a:xfrm>
            <a:off x="8510588" y="1662112"/>
            <a:ext cx="3048000" cy="3014661"/>
            <a:chOff x="8510588" y="1662112"/>
            <a:chExt cx="3048000" cy="3014661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A8C938E-1F27-32BF-59A4-A590EE1BDF8D}"/>
                </a:ext>
              </a:extLst>
            </p:cNvPr>
            <p:cNvSpPr/>
            <p:nvPr/>
          </p:nvSpPr>
          <p:spPr>
            <a:xfrm>
              <a:off x="8510588" y="1662112"/>
              <a:ext cx="3048000" cy="3014661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dirty="0">
                  <a:solidFill>
                    <a:schemeClr val="tx1"/>
                  </a:solidFill>
                </a:rPr>
                <a:t>Snapshot</a:t>
              </a:r>
            </a:p>
          </p:txBody>
        </p:sp>
        <p:sp>
          <p:nvSpPr>
            <p:cNvPr id="16" name="Cylinder 15">
              <a:extLst>
                <a:ext uri="{FF2B5EF4-FFF2-40B4-BE49-F238E27FC236}">
                  <a16:creationId xmlns:a16="http://schemas.microsoft.com/office/drawing/2014/main" id="{01C4E831-BFDC-F85B-2C8C-21683663A504}"/>
                </a:ext>
              </a:extLst>
            </p:cNvPr>
            <p:cNvSpPr/>
            <p:nvPr/>
          </p:nvSpPr>
          <p:spPr>
            <a:xfrm>
              <a:off x="8715376" y="2489197"/>
              <a:ext cx="1066800" cy="914400"/>
            </a:xfrm>
            <a:prstGeom prst="can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Disk</a:t>
              </a:r>
              <a:br>
                <a:rPr lang="en-US" dirty="0"/>
              </a:br>
              <a:r>
                <a:rPr lang="en-US" dirty="0"/>
                <a:t>Image</a:t>
              </a:r>
            </a:p>
          </p:txBody>
        </p:sp>
        <p:sp>
          <p:nvSpPr>
            <p:cNvPr id="17" name="Plaque 16">
              <a:extLst>
                <a:ext uri="{FF2B5EF4-FFF2-40B4-BE49-F238E27FC236}">
                  <a16:creationId xmlns:a16="http://schemas.microsoft.com/office/drawing/2014/main" id="{81633853-A29F-EC0A-7735-DA421D02A78C}"/>
                </a:ext>
              </a:extLst>
            </p:cNvPr>
            <p:cNvSpPr/>
            <p:nvPr/>
          </p:nvSpPr>
          <p:spPr>
            <a:xfrm>
              <a:off x="9967913" y="2514599"/>
              <a:ext cx="1343025" cy="914400"/>
            </a:xfrm>
            <a:prstGeom prst="plaque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Config-</a:t>
              </a:r>
              <a:r>
                <a:rPr lang="en-US" dirty="0" err="1"/>
                <a:t>uration</a:t>
              </a:r>
              <a:endParaRPr lang="en-US" dirty="0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6EA49388-35C7-AD07-C5AC-7E5A29A40C6D}"/>
                </a:ext>
              </a:extLst>
            </p:cNvPr>
            <p:cNvSpPr/>
            <p:nvPr/>
          </p:nvSpPr>
          <p:spPr>
            <a:xfrm>
              <a:off x="8715376" y="3557593"/>
              <a:ext cx="1166812" cy="965198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Memory</a:t>
              </a:r>
              <a:br>
                <a:rPr lang="en-US" dirty="0">
                  <a:solidFill>
                    <a:schemeClr val="tx1"/>
                  </a:solidFill>
                </a:rPr>
              </a:br>
              <a:r>
                <a:rPr lang="en-US" dirty="0">
                  <a:solidFill>
                    <a:schemeClr val="tx1"/>
                  </a:solidFill>
                </a:rPr>
                <a:t>Image</a:t>
              </a:r>
            </a:p>
          </p:txBody>
        </p:sp>
        <p:sp>
          <p:nvSpPr>
            <p:cNvPr id="19" name="Decagon 18">
              <a:extLst>
                <a:ext uri="{FF2B5EF4-FFF2-40B4-BE49-F238E27FC236}">
                  <a16:creationId xmlns:a16="http://schemas.microsoft.com/office/drawing/2014/main" id="{7252D949-E0C6-3FB8-27AF-728F69F09824}"/>
                </a:ext>
              </a:extLst>
            </p:cNvPr>
            <p:cNvSpPr/>
            <p:nvPr/>
          </p:nvSpPr>
          <p:spPr>
            <a:xfrm>
              <a:off x="10086976" y="3557593"/>
              <a:ext cx="1185862" cy="965198"/>
            </a:xfrm>
            <a:prstGeom prst="decagon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HW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Image</a:t>
              </a:r>
            </a:p>
          </p:txBody>
        </p:sp>
      </p:grp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EF8DB3B3-3A7A-485A-8BA3-26B21E484E18}"/>
              </a:ext>
            </a:extLst>
          </p:cNvPr>
          <p:cNvSpPr/>
          <p:nvPr/>
        </p:nvSpPr>
        <p:spPr>
          <a:xfrm>
            <a:off x="7705725" y="2407442"/>
            <a:ext cx="719138" cy="762000"/>
          </a:xfrm>
          <a:prstGeom prst="rightArrow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600" dirty="0"/>
              <a:t>Save</a:t>
            </a:r>
          </a:p>
        </p:txBody>
      </p:sp>
    </p:spTree>
    <p:extLst>
      <p:ext uri="{BB962C8B-B14F-4D97-AF65-F5344CB8AC3E}">
        <p14:creationId xmlns:p14="http://schemas.microsoft.com/office/powerpoint/2010/main" val="1663249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08030B-D3B8-D205-9ED0-F89C5049C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 dirty="0"/>
              <a:t>Containers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35AE5-0302-231A-9A96-AEC04099F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905000"/>
            <a:ext cx="5714997" cy="4335079"/>
          </a:xfrm>
        </p:spPr>
        <p:txBody>
          <a:bodyPr anchor="ctr">
            <a:normAutofit/>
          </a:bodyPr>
          <a:lstStyle/>
          <a:p>
            <a:r>
              <a:rPr lang="en-US" dirty="0"/>
              <a:t>Most commonly used with Docker</a:t>
            </a:r>
          </a:p>
          <a:p>
            <a:r>
              <a:rPr lang="en-US" dirty="0"/>
              <a:t>Open Container Initiative (OCI) ensures compatibility between containerization software.</a:t>
            </a:r>
          </a:p>
          <a:p>
            <a:r>
              <a:rPr lang="en-US" dirty="0"/>
              <a:t>E.g. A container image built with docker will run on </a:t>
            </a:r>
            <a:r>
              <a:rPr lang="en-US" dirty="0" err="1"/>
              <a:t>Podman</a:t>
            </a:r>
            <a:endParaRPr lang="en-US" dirty="0"/>
          </a:p>
        </p:txBody>
      </p:sp>
      <p:pic>
        <p:nvPicPr>
          <p:cNvPr id="5" name="Picture 4" descr="Forklift lifting a container in the yard">
            <a:extLst>
              <a:ext uri="{FF2B5EF4-FFF2-40B4-BE49-F238E27FC236}">
                <a16:creationId xmlns:a16="http://schemas.microsoft.com/office/drawing/2014/main" id="{B90AE917-205A-2EED-93D9-D3F5FE0D57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935" r="33228" b="-1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890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Source: JFROG">
            <a:extLst>
              <a:ext uri="{FF2B5EF4-FFF2-40B4-BE49-F238E27FC236}">
                <a16:creationId xmlns:a16="http://schemas.microsoft.com/office/drawing/2014/main" id="{7C36A389-6A73-0DD9-E606-101A346D88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" y="1752600"/>
            <a:ext cx="10485120" cy="327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855D9AD-591C-EA95-10FF-7AEB7B41235E}"/>
              </a:ext>
            </a:extLst>
          </p:cNvPr>
          <p:cNvSpPr txBox="1"/>
          <p:nvPr/>
        </p:nvSpPr>
        <p:spPr>
          <a:xfrm>
            <a:off x="76200" y="6488668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https://dev.to/paschalogu/how-i-deployed-my-website-as-a-container-3fje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273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F6720-1CCD-AD9E-E540-BE27DB8D1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6475"/>
          </a:xfrm>
        </p:spPr>
        <p:txBody>
          <a:bodyPr/>
          <a:lstStyle/>
          <a:p>
            <a:r>
              <a:rPr lang="en-US" dirty="0"/>
              <a:t>Container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7399E-434B-8240-4EE3-7EA436814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51053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Operating System</a:t>
            </a:r>
          </a:p>
          <a:p>
            <a:pPr lvl="1"/>
            <a:r>
              <a:rPr lang="en-US" dirty="0"/>
              <a:t>Linux</a:t>
            </a:r>
          </a:p>
          <a:p>
            <a:pPr lvl="1"/>
            <a:r>
              <a:rPr lang="en-US" dirty="0"/>
              <a:t>Windows</a:t>
            </a:r>
          </a:p>
          <a:p>
            <a:endParaRPr lang="en-US" dirty="0"/>
          </a:p>
          <a:p>
            <a:r>
              <a:rPr lang="en-US" dirty="0"/>
              <a:t>Architecture</a:t>
            </a:r>
          </a:p>
          <a:p>
            <a:pPr lvl="1"/>
            <a:r>
              <a:rPr lang="en-US" dirty="0"/>
              <a:t>386 (32-bit)</a:t>
            </a:r>
          </a:p>
          <a:p>
            <a:pPr lvl="1"/>
            <a:r>
              <a:rPr lang="en-US" dirty="0"/>
              <a:t>amd64 (x86 64-bit)</a:t>
            </a:r>
          </a:p>
          <a:p>
            <a:pPr lvl="1"/>
            <a:r>
              <a:rPr lang="en-US" dirty="0"/>
              <a:t>arm32</a:t>
            </a:r>
          </a:p>
          <a:p>
            <a:pPr lvl="1"/>
            <a:r>
              <a:rPr lang="en-US" dirty="0"/>
              <a:t>arm64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By default, the architecture will be the same as your computer. So if you build on MacOS, you’ll get arm64 architecture.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806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6F920-8D10-4B41-6A76-47DF99569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/>
          <a:lstStyle/>
          <a:p>
            <a:r>
              <a:rPr lang="en-US" dirty="0"/>
              <a:t>Docker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16C19-3257-A6AF-61B8-FA7CF83E5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9200"/>
            <a:ext cx="10515600" cy="49577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docker run</a:t>
            </a:r>
          </a:p>
          <a:p>
            <a:pPr lvl="1"/>
            <a:r>
              <a:rPr lang="en-US" dirty="0"/>
              <a:t>Run a container, possibly mapping ports and volumes, possibly executing a command.</a:t>
            </a:r>
          </a:p>
          <a:p>
            <a:r>
              <a:rPr lang="en-US" dirty="0"/>
              <a:t>docker </a:t>
            </a:r>
            <a:r>
              <a:rPr lang="en-US" dirty="0" err="1"/>
              <a:t>ps</a:t>
            </a:r>
            <a:endParaRPr lang="en-US" dirty="0"/>
          </a:p>
          <a:p>
            <a:pPr lvl="1"/>
            <a:r>
              <a:rPr lang="en-US" dirty="0"/>
              <a:t>Show running containers</a:t>
            </a:r>
          </a:p>
          <a:p>
            <a:pPr lvl="1"/>
            <a:r>
              <a:rPr lang="en-US" dirty="0"/>
              <a:t>-a: Show all containers</a:t>
            </a:r>
          </a:p>
          <a:p>
            <a:r>
              <a:rPr lang="en-US" dirty="0"/>
              <a:t>docker container prune</a:t>
            </a:r>
          </a:p>
          <a:p>
            <a:pPr lvl="1"/>
            <a:r>
              <a:rPr lang="en-US" dirty="0"/>
              <a:t>Remove all stopped containers</a:t>
            </a:r>
          </a:p>
          <a:p>
            <a:r>
              <a:rPr lang="en-US" dirty="0"/>
              <a:t>docker compose up</a:t>
            </a:r>
          </a:p>
          <a:p>
            <a:pPr lvl="1"/>
            <a:r>
              <a:rPr lang="en-US" dirty="0"/>
              <a:t>Start a compose file that may have multiple containers, virtual networks and so forth.</a:t>
            </a:r>
          </a:p>
          <a:p>
            <a:pPr lvl="1"/>
            <a:r>
              <a:rPr lang="en-US" dirty="0"/>
              <a:t>-d: run detached</a:t>
            </a:r>
          </a:p>
          <a:p>
            <a:r>
              <a:rPr lang="en-US" dirty="0"/>
              <a:t>docker compose down</a:t>
            </a:r>
          </a:p>
          <a:p>
            <a:pPr lvl="1"/>
            <a:r>
              <a:rPr lang="en-US" dirty="0"/>
              <a:t>Stop a running set of containers</a:t>
            </a:r>
          </a:p>
          <a:p>
            <a:pPr lvl="1"/>
            <a:r>
              <a:rPr lang="en-US" dirty="0"/>
              <a:t>-v: Delete all volumes (clean up)</a:t>
            </a:r>
          </a:p>
        </p:txBody>
      </p:sp>
    </p:spTree>
    <p:extLst>
      <p:ext uri="{BB962C8B-B14F-4D97-AF65-F5344CB8AC3E}">
        <p14:creationId xmlns:p14="http://schemas.microsoft.com/office/powerpoint/2010/main" val="3763309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93C5F-50A8-F373-E443-93F04890F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98792-1FF0-0E55-2B5B-9DFFBA613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800"/>
            <a:ext cx="10515600" cy="4729163"/>
          </a:xfrm>
        </p:spPr>
        <p:txBody>
          <a:bodyPr/>
          <a:lstStyle/>
          <a:p>
            <a:r>
              <a:rPr lang="en-US" dirty="0"/>
              <a:t>The default library of container images</a:t>
            </a:r>
          </a:p>
          <a:p>
            <a:pPr lvl="1"/>
            <a:r>
              <a:rPr lang="en-US" dirty="0"/>
              <a:t>Others exist and you can make your own</a:t>
            </a:r>
          </a:p>
          <a:p>
            <a:r>
              <a:rPr lang="en-US" dirty="0"/>
              <a:t>Create an account and you can push images to Docker Hub and run them easily, anywhere.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3200" b="1" dirty="0"/>
              <a:t>Container naming</a:t>
            </a:r>
          </a:p>
          <a:p>
            <a:r>
              <a:rPr lang="en-US" dirty="0"/>
              <a:t>namespace/</a:t>
            </a:r>
            <a:r>
              <a:rPr lang="en-US" dirty="0" err="1"/>
              <a:t>name:tag</a:t>
            </a:r>
            <a:endParaRPr lang="en-US" dirty="0"/>
          </a:p>
          <a:p>
            <a:pPr lvl="1"/>
            <a:r>
              <a:rPr lang="en-US" dirty="0"/>
              <a:t>Namespace and tag are optional. Namespace is usually your docker hub </a:t>
            </a:r>
            <a:r>
              <a:rPr lang="en-US" dirty="0" err="1"/>
              <a:t>userid</a:t>
            </a:r>
            <a:r>
              <a:rPr lang="en-US" dirty="0"/>
              <a:t>. Tag is often (but not always) a version number.</a:t>
            </a:r>
          </a:p>
        </p:txBody>
      </p:sp>
    </p:spTree>
    <p:extLst>
      <p:ext uri="{BB962C8B-B14F-4D97-AF65-F5344CB8AC3E}">
        <p14:creationId xmlns:p14="http://schemas.microsoft.com/office/powerpoint/2010/main" val="962990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452</Words>
  <Application>Microsoft Office PowerPoint</Application>
  <PresentationFormat>Widescreen</PresentationFormat>
  <Paragraphs>120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VMs and Containers</vt:lpstr>
      <vt:lpstr>Virtualization</vt:lpstr>
      <vt:lpstr>Windows Sandbox</vt:lpstr>
      <vt:lpstr>VMCeption</vt:lpstr>
      <vt:lpstr>Virtual Machine States</vt:lpstr>
      <vt:lpstr>Containers</vt:lpstr>
      <vt:lpstr>PowerPoint Presentation</vt:lpstr>
      <vt:lpstr>Container Properties</vt:lpstr>
      <vt:lpstr>Docker Commands</vt:lpstr>
      <vt:lpstr>Docker Hub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Brandt Redd</dc:creator>
  <cp:lastModifiedBy>Brandt Redd</cp:lastModifiedBy>
  <cp:revision>1</cp:revision>
  <dcterms:created xsi:type="dcterms:W3CDTF">2024-09-11T17:25:03Z</dcterms:created>
  <dcterms:modified xsi:type="dcterms:W3CDTF">2024-10-02T04:17:14Z</dcterms:modified>
</cp:coreProperties>
</file>