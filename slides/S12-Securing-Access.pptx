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p:cViewPr varScale="1">
        <p:scale>
          <a:sx n="69" d="100"/>
          <a:sy n="69" d="100"/>
        </p:scale>
        <p:origin x="79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841DFA90-63B9-4E25-A902-01A4E1F69BEB}"/>
    <pc:docChg chg="modSld">
      <pc:chgData name="Brandt Redd" userId="be8ed540b98adac0" providerId="LiveId" clId="{841DFA90-63B9-4E25-A902-01A4E1F69BEB}" dt="2024-10-16T13:55:24.939" v="10" actId="20577"/>
      <pc:docMkLst>
        <pc:docMk/>
      </pc:docMkLst>
      <pc:sldChg chg="modSp mod">
        <pc:chgData name="Brandt Redd" userId="be8ed540b98adac0" providerId="LiveId" clId="{841DFA90-63B9-4E25-A902-01A4E1F69BEB}" dt="2024-10-16T13:55:24.939" v="10" actId="20577"/>
        <pc:sldMkLst>
          <pc:docMk/>
          <pc:sldMk cId="3210539873" sldId="262"/>
        </pc:sldMkLst>
      </pc:sldChg>
    </pc:docChg>
  </pc:docChgLst>
  <pc:docChgLst>
    <pc:chgData name="Brandt Redd" userId="be8ed540b98adac0" providerId="LiveId" clId="{595F8D35-DC9C-496D-8F6C-0858A556DC5C}"/>
    <pc:docChg chg="modSld">
      <pc:chgData name="Brandt Redd" userId="be8ed540b98adac0" providerId="LiveId" clId="{595F8D35-DC9C-496D-8F6C-0858A556DC5C}" dt="2025-01-22T06:12:09.498" v="38" actId="1036"/>
      <pc:docMkLst>
        <pc:docMk/>
      </pc:docMkLst>
      <pc:sldChg chg="modSp mod">
        <pc:chgData name="Brandt Redd" userId="be8ed540b98adac0" providerId="LiveId" clId="{595F8D35-DC9C-496D-8F6C-0858A556DC5C}" dt="2025-01-22T06:12:09.498" v="38" actId="1036"/>
        <pc:sldMkLst>
          <pc:docMk/>
          <pc:sldMk cId="3722555846" sldId="259"/>
        </pc:sldMkLst>
        <pc:spChg chg="mod">
          <ac:chgData name="Brandt Redd" userId="be8ed540b98adac0" providerId="LiveId" clId="{595F8D35-DC9C-496D-8F6C-0858A556DC5C}" dt="2025-01-22T06:12:09.498" v="38" actId="1036"/>
          <ac:spMkLst>
            <pc:docMk/>
            <pc:sldMk cId="3722555846" sldId="259"/>
            <ac:spMk id="10" creationId="{CB158A5C-E2B3-7D55-2383-06C5847C3F04}"/>
          </ac:spMkLst>
        </pc:spChg>
        <pc:spChg chg="mod">
          <ac:chgData name="Brandt Redd" userId="be8ed540b98adac0" providerId="LiveId" clId="{595F8D35-DC9C-496D-8F6C-0858A556DC5C}" dt="2025-01-22T06:11:59.143" v="24" actId="1035"/>
          <ac:spMkLst>
            <pc:docMk/>
            <pc:sldMk cId="3722555846" sldId="259"/>
            <ac:spMk id="11" creationId="{CE2E7B12-8896-88F0-D4E7-7BB06A3BB933}"/>
          </ac:spMkLst>
        </pc:spChg>
        <pc:picChg chg="mod">
          <ac:chgData name="Brandt Redd" userId="be8ed540b98adac0" providerId="LiveId" clId="{595F8D35-DC9C-496D-8F6C-0858A556DC5C}" dt="2025-01-22T06:12:09.498" v="38" actId="1036"/>
          <ac:picMkLst>
            <pc:docMk/>
            <pc:sldMk cId="3722555846" sldId="259"/>
            <ac:picMk id="6" creationId="{A38DF1A6-0804-019E-4054-9548FFBAF61C}"/>
          </ac:picMkLst>
        </pc:picChg>
        <pc:picChg chg="mod">
          <ac:chgData name="Brandt Redd" userId="be8ed540b98adac0" providerId="LiveId" clId="{595F8D35-DC9C-496D-8F6C-0858A556DC5C}" dt="2025-01-22T06:11:59.143" v="24" actId="1035"/>
          <ac:picMkLst>
            <pc:docMk/>
            <pc:sldMk cId="3722555846" sldId="259"/>
            <ac:picMk id="8" creationId="{B84BD4D4-74BF-D6B2-0E13-604F8DA09884}"/>
          </ac:picMkLst>
        </pc:picChg>
      </pc:sldChg>
    </pc:docChg>
  </pc:docChgLst>
  <pc:docChgLst>
    <pc:chgData name="Brandt Redd" userId="be8ed540b98adac0" providerId="LiveId" clId="{0B7B3AAB-73AF-4B07-8578-82B75ADACEDE}"/>
    <pc:docChg chg="custSel modSld">
      <pc:chgData name="Brandt Redd" userId="be8ed540b98adac0" providerId="LiveId" clId="{0B7B3AAB-73AF-4B07-8578-82B75ADACEDE}" dt="2024-11-17T06:18:57.972" v="314" actId="20577"/>
      <pc:docMkLst>
        <pc:docMk/>
      </pc:docMkLst>
      <pc:sldChg chg="modNotesTx">
        <pc:chgData name="Brandt Redd" userId="be8ed540b98adac0" providerId="LiveId" clId="{0B7B3AAB-73AF-4B07-8578-82B75ADACEDE}" dt="2024-11-17T06:18:57.972" v="314" actId="20577"/>
        <pc:sldMkLst>
          <pc:docMk/>
          <pc:sldMk cId="2847705520"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D1CC4C-A188-4BF3-9274-1DEDDDCF253F}" type="datetimeFigureOut">
              <a:rPr lang="en-US" smtClean="0"/>
              <a:t>2025-01-21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0398D-B474-453A-8B47-3120F5442217}" type="slidenum">
              <a:rPr lang="en-US" smtClean="0"/>
              <a:t>‹#›</a:t>
            </a:fld>
            <a:endParaRPr lang="en-US"/>
          </a:p>
        </p:txBody>
      </p:sp>
    </p:spTree>
    <p:extLst>
      <p:ext uri="{BB962C8B-B14F-4D97-AF65-F5344CB8AC3E}">
        <p14:creationId xmlns:p14="http://schemas.microsoft.com/office/powerpoint/2010/main" val="2924979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students, what are the three ways of authenticating a person.</a:t>
            </a:r>
          </a:p>
        </p:txBody>
      </p:sp>
      <p:sp>
        <p:nvSpPr>
          <p:cNvPr id="4" name="Slide Number Placeholder 3"/>
          <p:cNvSpPr>
            <a:spLocks noGrp="1"/>
          </p:cNvSpPr>
          <p:nvPr>
            <p:ph type="sldNum" sz="quarter" idx="5"/>
          </p:nvPr>
        </p:nvSpPr>
        <p:spPr/>
        <p:txBody>
          <a:bodyPr/>
          <a:lstStyle/>
          <a:p>
            <a:fld id="{5A60398D-B474-453A-8B47-3120F5442217}" type="slidenum">
              <a:rPr lang="en-US" smtClean="0"/>
              <a:t>4</a:t>
            </a:fld>
            <a:endParaRPr lang="en-US"/>
          </a:p>
        </p:txBody>
      </p:sp>
    </p:spTree>
    <p:extLst>
      <p:ext uri="{BB962C8B-B14F-4D97-AF65-F5344CB8AC3E}">
        <p14:creationId xmlns:p14="http://schemas.microsoft.com/office/powerpoint/2010/main" val="2863549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are typically encrypted in storage and transmission but not in processing. It’s impractical to encrypt data in main memory and that is also not an area of vulnerability due to processor memory protections.</a:t>
            </a:r>
          </a:p>
        </p:txBody>
      </p:sp>
      <p:sp>
        <p:nvSpPr>
          <p:cNvPr id="4" name="Slide Number Placeholder 3"/>
          <p:cNvSpPr>
            <a:spLocks noGrp="1"/>
          </p:cNvSpPr>
          <p:nvPr>
            <p:ph type="sldNum" sz="quarter" idx="5"/>
          </p:nvPr>
        </p:nvSpPr>
        <p:spPr/>
        <p:txBody>
          <a:bodyPr/>
          <a:lstStyle/>
          <a:p>
            <a:fld id="{5A60398D-B474-453A-8B47-3120F5442217}" type="slidenum">
              <a:rPr lang="en-US" smtClean="0"/>
              <a:t>6</a:t>
            </a:fld>
            <a:endParaRPr lang="en-US"/>
          </a:p>
        </p:txBody>
      </p:sp>
    </p:spTree>
    <p:extLst>
      <p:ext uri="{BB962C8B-B14F-4D97-AF65-F5344CB8AC3E}">
        <p14:creationId xmlns:p14="http://schemas.microsoft.com/office/powerpoint/2010/main" val="2023873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6F773-7147-399C-9BFB-76B8041D09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3BD172-C952-B1AA-F7C4-919FF6BADA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9653BE-D2DC-580F-517E-8DA7FE46D4C5}"/>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5" name="Footer Placeholder 4">
            <a:extLst>
              <a:ext uri="{FF2B5EF4-FFF2-40B4-BE49-F238E27FC236}">
                <a16:creationId xmlns:a16="http://schemas.microsoft.com/office/drawing/2014/main" id="{EE161FD4-A81D-20DD-2331-011B43DCE5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0223D2-B00F-6B15-CE85-50D363B2D13B}"/>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1476882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DC310-4949-5BB9-B121-EA1A5BB344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93656-F30C-5374-2C91-8FBF434CBE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CDDF1-657C-B344-DC35-80CA08490DEF}"/>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5" name="Footer Placeholder 4">
            <a:extLst>
              <a:ext uri="{FF2B5EF4-FFF2-40B4-BE49-F238E27FC236}">
                <a16:creationId xmlns:a16="http://schemas.microsoft.com/office/drawing/2014/main" id="{3A097FF8-F99C-2197-4956-549CD64DE7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41CA0B-FE15-71B0-4E01-16369375911C}"/>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3334483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21FC8-FCC3-0B2F-13F3-D5CD5FC609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B94E13-9608-4F43-58A5-58238AD8B9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7931E5-CB9E-EA64-3B6A-7E2AAA548A18}"/>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5" name="Footer Placeholder 4">
            <a:extLst>
              <a:ext uri="{FF2B5EF4-FFF2-40B4-BE49-F238E27FC236}">
                <a16:creationId xmlns:a16="http://schemas.microsoft.com/office/drawing/2014/main" id="{6C125E3E-DDDF-6CE6-88A2-DAC463F46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D141C6-CD78-65ED-0A44-FB0EFCCEBECC}"/>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167642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5487B-9987-060B-3AC3-A857BA1A69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8D0C5E-B2C4-7487-2A84-677770C026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B16D9B-4647-6F40-863C-062A81E4F3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1143A5-8848-1070-C3C5-CF0FEE6CA19E}"/>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6" name="Footer Placeholder 5">
            <a:extLst>
              <a:ext uri="{FF2B5EF4-FFF2-40B4-BE49-F238E27FC236}">
                <a16:creationId xmlns:a16="http://schemas.microsoft.com/office/drawing/2014/main" id="{0C4BE367-58C2-BF46-4B31-459D89F8AA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E6C2CC-422E-687A-7619-7D0EF152F035}"/>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2250257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205C0-58EA-1C75-4280-E44C0DE0EE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72D19A-8A07-833B-F3DB-69205F2ECB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F6BB42-632E-CA50-0384-740E9B3795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4E1860-5CD9-2A22-BFD2-22FF7A907D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F10BB5-1206-C369-AA68-CCFD946C37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44415F-0B11-186D-7B22-BBAC87C49824}"/>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8" name="Footer Placeholder 7">
            <a:extLst>
              <a:ext uri="{FF2B5EF4-FFF2-40B4-BE49-F238E27FC236}">
                <a16:creationId xmlns:a16="http://schemas.microsoft.com/office/drawing/2014/main" id="{55BE9846-5764-28A2-7489-C63B5E1782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179673-75F9-DFC1-E36D-14B453E2F1CA}"/>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1979192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254C8-AB33-CFF8-C3EE-2AE78A0013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5097C2-AC21-75AA-F12B-71104C7E4592}"/>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4" name="Footer Placeholder 3">
            <a:extLst>
              <a:ext uri="{FF2B5EF4-FFF2-40B4-BE49-F238E27FC236}">
                <a16:creationId xmlns:a16="http://schemas.microsoft.com/office/drawing/2014/main" id="{76C711D9-9CAC-C29F-FF82-25C07018B6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62E220-5863-077E-6EA2-4C1DD6B7BD60}"/>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940973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72645C-A353-A2A4-BBC2-69A04679ED4F}"/>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3" name="Footer Placeholder 2">
            <a:extLst>
              <a:ext uri="{FF2B5EF4-FFF2-40B4-BE49-F238E27FC236}">
                <a16:creationId xmlns:a16="http://schemas.microsoft.com/office/drawing/2014/main" id="{366C417D-EF8C-7C2E-E063-E0AAED40F7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551BE6-C876-8BDF-885B-710F0F32B6F1}"/>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3039208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FCDC6-B464-AC06-6860-7B09B92958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E3AEF0-21CA-8F08-5C40-B2C0433979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6829C3-4545-3F33-636A-739AB3FDA2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0CE632-116E-B0DF-FBF6-927E3C2DF925}"/>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6" name="Footer Placeholder 5">
            <a:extLst>
              <a:ext uri="{FF2B5EF4-FFF2-40B4-BE49-F238E27FC236}">
                <a16:creationId xmlns:a16="http://schemas.microsoft.com/office/drawing/2014/main" id="{6482B5FE-ABE4-0CFF-3EAB-2590B2E3AA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6FD473-6968-7B71-8AEA-790DDA6FF928}"/>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3483568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F38F2-FCF0-DA22-5370-7BEF62AD39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A324E3-B692-8B85-13AB-4E5C7D0C26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B6C21C-EA4E-445B-D547-022FC95AC7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163271-AEA3-AFB3-0253-10A90647DDB0}"/>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6" name="Footer Placeholder 5">
            <a:extLst>
              <a:ext uri="{FF2B5EF4-FFF2-40B4-BE49-F238E27FC236}">
                <a16:creationId xmlns:a16="http://schemas.microsoft.com/office/drawing/2014/main" id="{58F506C3-5A10-EDEE-3314-5C66F4F44D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E02C5D-A708-0D14-8F45-C1007203BA48}"/>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3443262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F5B57-41B0-E79E-C106-2C71DB968C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AFA699-7D66-DC75-D578-BDA4793CD0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4C4EF6-4E57-87F8-3FF3-4425EFB5EE4B}"/>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5" name="Footer Placeholder 4">
            <a:extLst>
              <a:ext uri="{FF2B5EF4-FFF2-40B4-BE49-F238E27FC236}">
                <a16:creationId xmlns:a16="http://schemas.microsoft.com/office/drawing/2014/main" id="{B07D904C-DDEB-71FE-85B4-93E9804A5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7E87A6-4AAB-7465-7C5F-ABEE024E93B1}"/>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4040748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D4444E-1A14-5858-9A8D-6666532E0A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2AFD6E-0ADD-0A4F-78A4-EE559BF802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B0B32-88F2-FD0E-4988-171D83D806F1}"/>
              </a:ext>
            </a:extLst>
          </p:cNvPr>
          <p:cNvSpPr>
            <a:spLocks noGrp="1"/>
          </p:cNvSpPr>
          <p:nvPr>
            <p:ph type="dt" sz="half" idx="10"/>
          </p:nvPr>
        </p:nvSpPr>
        <p:spPr/>
        <p:txBody>
          <a:bodyPr/>
          <a:lstStyle/>
          <a:p>
            <a:fld id="{3826C298-4999-4D6C-88CC-0A4F49B8A28B}" type="datetimeFigureOut">
              <a:rPr lang="en-US" smtClean="0"/>
              <a:t>2025-01-21</a:t>
            </a:fld>
            <a:endParaRPr lang="en-US"/>
          </a:p>
        </p:txBody>
      </p:sp>
      <p:sp>
        <p:nvSpPr>
          <p:cNvPr id="5" name="Footer Placeholder 4">
            <a:extLst>
              <a:ext uri="{FF2B5EF4-FFF2-40B4-BE49-F238E27FC236}">
                <a16:creationId xmlns:a16="http://schemas.microsoft.com/office/drawing/2014/main" id="{887A41AE-3293-9210-A398-D016F0456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DCF27-FD25-154F-E039-A96F2BE17B58}"/>
              </a:ext>
            </a:extLst>
          </p:cNvPr>
          <p:cNvSpPr>
            <a:spLocks noGrp="1"/>
          </p:cNvSpPr>
          <p:nvPr>
            <p:ph type="sldNum" sz="quarter" idx="12"/>
          </p:nvPr>
        </p:nvSpPr>
        <p:spPr/>
        <p:txBody>
          <a:bodyPr/>
          <a:lstStyle/>
          <a:p>
            <a:fld id="{A4ABD988-756F-48AC-85E6-4BC3E39C2417}" type="slidenum">
              <a:rPr lang="en-US" smtClean="0"/>
              <a:t>‹#›</a:t>
            </a:fld>
            <a:endParaRPr lang="en-US"/>
          </a:p>
        </p:txBody>
      </p:sp>
    </p:spTree>
    <p:extLst>
      <p:ext uri="{BB962C8B-B14F-4D97-AF65-F5344CB8AC3E}">
        <p14:creationId xmlns:p14="http://schemas.microsoft.com/office/powerpoint/2010/main" val="1927159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019C50-5CAE-7674-87A1-7BC18F323F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928A16-FD17-D79E-8DAD-A6C090B570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1834D-1AA2-9CBA-C02B-6E5ED9FC89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26C298-4999-4D6C-88CC-0A4F49B8A28B}" type="datetimeFigureOut">
              <a:rPr lang="en-US" smtClean="0"/>
              <a:t>2025-01-21</a:t>
            </a:fld>
            <a:endParaRPr lang="en-US"/>
          </a:p>
        </p:txBody>
      </p:sp>
      <p:sp>
        <p:nvSpPr>
          <p:cNvPr id="5" name="Footer Placeholder 4">
            <a:extLst>
              <a:ext uri="{FF2B5EF4-FFF2-40B4-BE49-F238E27FC236}">
                <a16:creationId xmlns:a16="http://schemas.microsoft.com/office/drawing/2014/main" id="{FF647EE3-9A64-C223-1D5C-CC56EA9674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B4256C-A10D-4D27-966B-E701460230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ABD988-756F-48AC-85E6-4BC3E39C2417}" type="slidenum">
              <a:rPr lang="en-US" smtClean="0"/>
              <a:t>‹#›</a:t>
            </a:fld>
            <a:endParaRPr lang="en-US"/>
          </a:p>
        </p:txBody>
      </p:sp>
    </p:spTree>
    <p:extLst>
      <p:ext uri="{BB962C8B-B14F-4D97-AF65-F5344CB8AC3E}">
        <p14:creationId xmlns:p14="http://schemas.microsoft.com/office/powerpoint/2010/main" val="2280291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87BE9-2F45-E9A5-AE0F-CF3A02309CE3}"/>
              </a:ext>
            </a:extLst>
          </p:cNvPr>
          <p:cNvSpPr>
            <a:spLocks noGrp="1"/>
          </p:cNvSpPr>
          <p:nvPr>
            <p:ph type="ctrTitle"/>
          </p:nvPr>
        </p:nvSpPr>
        <p:spPr/>
        <p:txBody>
          <a:bodyPr/>
          <a:lstStyle/>
          <a:p>
            <a:r>
              <a:rPr lang="en-US" dirty="0"/>
              <a:t>Securing Access to Data</a:t>
            </a:r>
            <a:br>
              <a:rPr lang="en-US" dirty="0"/>
            </a:br>
            <a:r>
              <a:rPr lang="en-US" dirty="0"/>
              <a:t>on a Computer</a:t>
            </a:r>
          </a:p>
        </p:txBody>
      </p:sp>
      <p:sp>
        <p:nvSpPr>
          <p:cNvPr id="3" name="Subtitle 2">
            <a:extLst>
              <a:ext uri="{FF2B5EF4-FFF2-40B4-BE49-F238E27FC236}">
                <a16:creationId xmlns:a16="http://schemas.microsoft.com/office/drawing/2014/main" id="{4EEEB7DA-11FF-199E-6E3D-4B9372371540}"/>
              </a:ext>
            </a:extLst>
          </p:cNvPr>
          <p:cNvSpPr>
            <a:spLocks noGrp="1"/>
          </p:cNvSpPr>
          <p:nvPr>
            <p:ph type="subTitle" idx="1"/>
          </p:nvPr>
        </p:nvSpPr>
        <p:spPr/>
        <p:txBody>
          <a:bodyPr/>
          <a:lstStyle/>
          <a:p>
            <a:r>
              <a:rPr lang="en-US" dirty="0"/>
              <a:t>IT&amp;C 344 – S12</a:t>
            </a:r>
          </a:p>
        </p:txBody>
      </p:sp>
    </p:spTree>
    <p:extLst>
      <p:ext uri="{BB962C8B-B14F-4D97-AF65-F5344CB8AC3E}">
        <p14:creationId xmlns:p14="http://schemas.microsoft.com/office/powerpoint/2010/main" val="4283243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2042-ED68-65FC-A4E3-665CDEFE9D51}"/>
              </a:ext>
            </a:extLst>
          </p:cNvPr>
          <p:cNvSpPr>
            <a:spLocks noGrp="1"/>
          </p:cNvSpPr>
          <p:nvPr>
            <p:ph type="title"/>
          </p:nvPr>
        </p:nvSpPr>
        <p:spPr/>
        <p:txBody>
          <a:bodyPr/>
          <a:lstStyle/>
          <a:p>
            <a:r>
              <a:rPr lang="en-US" dirty="0"/>
              <a:t>But first… a demo</a:t>
            </a:r>
          </a:p>
        </p:txBody>
      </p:sp>
      <p:pic>
        <p:nvPicPr>
          <p:cNvPr id="11" name="Picture 10" descr="Father and daughter making pasta">
            <a:extLst>
              <a:ext uri="{FF2B5EF4-FFF2-40B4-BE49-F238E27FC236}">
                <a16:creationId xmlns:a16="http://schemas.microsoft.com/office/drawing/2014/main" id="{962E7ADA-51D7-C886-2CA2-2B23CAA705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2133600"/>
            <a:ext cx="5604300" cy="3736200"/>
          </a:xfrm>
          <a:prstGeom prst="rect">
            <a:avLst/>
          </a:prstGeom>
        </p:spPr>
      </p:pic>
    </p:spTree>
    <p:extLst>
      <p:ext uri="{BB962C8B-B14F-4D97-AF65-F5344CB8AC3E}">
        <p14:creationId xmlns:p14="http://schemas.microsoft.com/office/powerpoint/2010/main" val="3967249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AC562-EF53-29CA-A4D7-DD25ACBC90C9}"/>
              </a:ext>
            </a:extLst>
          </p:cNvPr>
          <p:cNvSpPr>
            <a:spLocks noGrp="1"/>
          </p:cNvSpPr>
          <p:nvPr>
            <p:ph type="title"/>
          </p:nvPr>
        </p:nvSpPr>
        <p:spPr/>
        <p:txBody>
          <a:bodyPr/>
          <a:lstStyle/>
          <a:p>
            <a:r>
              <a:rPr lang="en-US" dirty="0"/>
              <a:t>Securing Data</a:t>
            </a:r>
          </a:p>
        </p:txBody>
      </p:sp>
      <p:sp>
        <p:nvSpPr>
          <p:cNvPr id="3" name="Content Placeholder 2">
            <a:extLst>
              <a:ext uri="{FF2B5EF4-FFF2-40B4-BE49-F238E27FC236}">
                <a16:creationId xmlns:a16="http://schemas.microsoft.com/office/drawing/2014/main" id="{2329D742-C2EC-AFE2-B326-1F3A78BA64AE}"/>
              </a:ext>
            </a:extLst>
          </p:cNvPr>
          <p:cNvSpPr>
            <a:spLocks noGrp="1"/>
          </p:cNvSpPr>
          <p:nvPr>
            <p:ph idx="1"/>
          </p:nvPr>
        </p:nvSpPr>
        <p:spPr/>
        <p:txBody>
          <a:bodyPr/>
          <a:lstStyle/>
          <a:p>
            <a:r>
              <a:rPr lang="en-US" dirty="0"/>
              <a:t>Authentication and Authorization</a:t>
            </a:r>
          </a:p>
          <a:p>
            <a:r>
              <a:rPr lang="en-US" dirty="0"/>
              <a:t>Encryption</a:t>
            </a:r>
          </a:p>
          <a:p>
            <a:r>
              <a:rPr lang="en-US" dirty="0"/>
              <a:t>Malware Protection</a:t>
            </a:r>
          </a:p>
        </p:txBody>
      </p:sp>
    </p:spTree>
    <p:extLst>
      <p:ext uri="{BB962C8B-B14F-4D97-AF65-F5344CB8AC3E}">
        <p14:creationId xmlns:p14="http://schemas.microsoft.com/office/powerpoint/2010/main" val="1144998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9B87D-D76C-2ECC-9143-80169F85EC2F}"/>
              </a:ext>
            </a:extLst>
          </p:cNvPr>
          <p:cNvSpPr>
            <a:spLocks noGrp="1"/>
          </p:cNvSpPr>
          <p:nvPr>
            <p:ph type="title"/>
          </p:nvPr>
        </p:nvSpPr>
        <p:spPr/>
        <p:txBody>
          <a:bodyPr/>
          <a:lstStyle/>
          <a:p>
            <a:r>
              <a:rPr lang="en-US" dirty="0"/>
              <a:t>Authentication Credentials</a:t>
            </a:r>
          </a:p>
        </p:txBody>
      </p:sp>
      <p:sp>
        <p:nvSpPr>
          <p:cNvPr id="4" name="Rectangle 3">
            <a:extLst>
              <a:ext uri="{FF2B5EF4-FFF2-40B4-BE49-F238E27FC236}">
                <a16:creationId xmlns:a16="http://schemas.microsoft.com/office/drawing/2014/main" id="{869CDC57-7CCC-1007-9E21-67D64BAEF1FD}"/>
              </a:ext>
            </a:extLst>
          </p:cNvPr>
          <p:cNvSpPr/>
          <p:nvPr/>
        </p:nvSpPr>
        <p:spPr>
          <a:xfrm>
            <a:off x="6629400" y="1647031"/>
            <a:ext cx="2895600" cy="758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Consolas" panose="020B0609020204030204" pitchFamily="49" charset="0"/>
              </a:rPr>
              <a:t>*****|</a:t>
            </a:r>
          </a:p>
        </p:txBody>
      </p:sp>
      <p:pic>
        <p:nvPicPr>
          <p:cNvPr id="6" name="Graphic 5" descr="Female Profile outline">
            <a:extLst>
              <a:ext uri="{FF2B5EF4-FFF2-40B4-BE49-F238E27FC236}">
                <a16:creationId xmlns:a16="http://schemas.microsoft.com/office/drawing/2014/main" id="{A38DF1A6-0804-019E-4054-9548FFBAF6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62800" y="4495800"/>
            <a:ext cx="1447800" cy="1447800"/>
          </a:xfrm>
          <a:prstGeom prst="rect">
            <a:avLst/>
          </a:prstGeom>
        </p:spPr>
      </p:pic>
      <p:pic>
        <p:nvPicPr>
          <p:cNvPr id="8" name="Graphic 7" descr="Key outline">
            <a:extLst>
              <a:ext uri="{FF2B5EF4-FFF2-40B4-BE49-F238E27FC236}">
                <a16:creationId xmlns:a16="http://schemas.microsoft.com/office/drawing/2014/main" id="{B84BD4D4-74BF-D6B2-0E13-604F8DA098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58000" y="2590800"/>
            <a:ext cx="2057400" cy="2057400"/>
          </a:xfrm>
          <a:prstGeom prst="rect">
            <a:avLst/>
          </a:prstGeom>
        </p:spPr>
      </p:pic>
      <p:sp>
        <p:nvSpPr>
          <p:cNvPr id="9" name="Rectangle 8">
            <a:extLst>
              <a:ext uri="{FF2B5EF4-FFF2-40B4-BE49-F238E27FC236}">
                <a16:creationId xmlns:a16="http://schemas.microsoft.com/office/drawing/2014/main" id="{15195D8D-143F-5BA6-77CA-6A2ED26CCFF4}"/>
              </a:ext>
            </a:extLst>
          </p:cNvPr>
          <p:cNvSpPr/>
          <p:nvPr/>
        </p:nvSpPr>
        <p:spPr>
          <a:xfrm>
            <a:off x="1828800" y="1569244"/>
            <a:ext cx="3429001"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2400" dirty="0"/>
              <a:t>Something You Know (e.g. Password)</a:t>
            </a:r>
          </a:p>
        </p:txBody>
      </p:sp>
      <p:sp>
        <p:nvSpPr>
          <p:cNvPr id="10" name="Rectangle 9">
            <a:extLst>
              <a:ext uri="{FF2B5EF4-FFF2-40B4-BE49-F238E27FC236}">
                <a16:creationId xmlns:a16="http://schemas.microsoft.com/office/drawing/2014/main" id="{CB158A5C-E2B3-7D55-2383-06C5847C3F04}"/>
              </a:ext>
            </a:extLst>
          </p:cNvPr>
          <p:cNvSpPr/>
          <p:nvPr/>
        </p:nvSpPr>
        <p:spPr>
          <a:xfrm>
            <a:off x="1828800" y="4762500"/>
            <a:ext cx="3429001" cy="9144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2400" dirty="0"/>
              <a:t>Something You Are (Biometric)</a:t>
            </a:r>
          </a:p>
        </p:txBody>
      </p:sp>
      <p:sp>
        <p:nvSpPr>
          <p:cNvPr id="11" name="Rectangle 10">
            <a:extLst>
              <a:ext uri="{FF2B5EF4-FFF2-40B4-BE49-F238E27FC236}">
                <a16:creationId xmlns:a16="http://schemas.microsoft.com/office/drawing/2014/main" id="{CE2E7B12-8896-88F0-D4E7-7BB06A3BB933}"/>
              </a:ext>
            </a:extLst>
          </p:cNvPr>
          <p:cNvSpPr/>
          <p:nvPr/>
        </p:nvSpPr>
        <p:spPr>
          <a:xfrm>
            <a:off x="1828800" y="3162300"/>
            <a:ext cx="3429001" cy="9144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2400" dirty="0"/>
              <a:t>Something You Have (Key, Token, Phone, etc.)</a:t>
            </a:r>
          </a:p>
        </p:txBody>
      </p:sp>
    </p:spTree>
    <p:extLst>
      <p:ext uri="{BB962C8B-B14F-4D97-AF65-F5344CB8AC3E}">
        <p14:creationId xmlns:p14="http://schemas.microsoft.com/office/powerpoint/2010/main" val="3722555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BABC5-55D2-F5CD-9FD5-57B6AEF3E1CE}"/>
              </a:ext>
            </a:extLst>
          </p:cNvPr>
          <p:cNvSpPr>
            <a:spLocks noGrp="1"/>
          </p:cNvSpPr>
          <p:nvPr>
            <p:ph type="title"/>
          </p:nvPr>
        </p:nvSpPr>
        <p:spPr/>
        <p:txBody>
          <a:bodyPr/>
          <a:lstStyle/>
          <a:p>
            <a:r>
              <a:rPr lang="en-US" dirty="0"/>
              <a:t>Authorization</a:t>
            </a:r>
          </a:p>
        </p:txBody>
      </p:sp>
      <p:pic>
        <p:nvPicPr>
          <p:cNvPr id="4" name="Graphic 3" descr="Open folder outline">
            <a:extLst>
              <a:ext uri="{FF2B5EF4-FFF2-40B4-BE49-F238E27FC236}">
                <a16:creationId xmlns:a16="http://schemas.microsoft.com/office/drawing/2014/main" id="{FFC732CD-3B9A-9AC6-BC0D-82D03ED7BCE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2200" y="2286000"/>
            <a:ext cx="2438400" cy="2438400"/>
          </a:xfrm>
          <a:prstGeom prst="rect">
            <a:avLst/>
          </a:prstGeom>
        </p:spPr>
      </p:pic>
      <p:pic>
        <p:nvPicPr>
          <p:cNvPr id="6" name="Graphic 5" descr="Shield outline">
            <a:extLst>
              <a:ext uri="{FF2B5EF4-FFF2-40B4-BE49-F238E27FC236}">
                <a16:creationId xmlns:a16="http://schemas.microsoft.com/office/drawing/2014/main" id="{698B1A73-007A-717F-9A6A-8C389A8F89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00400" y="2253859"/>
            <a:ext cx="2667000" cy="2667000"/>
          </a:xfrm>
          <a:prstGeom prst="rect">
            <a:avLst/>
          </a:prstGeom>
        </p:spPr>
      </p:pic>
      <p:sp>
        <p:nvSpPr>
          <p:cNvPr id="7" name="TextBox 6">
            <a:extLst>
              <a:ext uri="{FF2B5EF4-FFF2-40B4-BE49-F238E27FC236}">
                <a16:creationId xmlns:a16="http://schemas.microsoft.com/office/drawing/2014/main" id="{8630B0D2-0E27-D927-B885-46CC4B6A5D97}"/>
              </a:ext>
            </a:extLst>
          </p:cNvPr>
          <p:cNvSpPr txBox="1"/>
          <p:nvPr/>
        </p:nvSpPr>
        <p:spPr>
          <a:xfrm>
            <a:off x="3941141" y="2905035"/>
            <a:ext cx="1185517" cy="1200329"/>
          </a:xfrm>
          <a:prstGeom prst="rect">
            <a:avLst/>
          </a:prstGeom>
          <a:noFill/>
        </p:spPr>
        <p:txBody>
          <a:bodyPr wrap="none" rtlCol="0">
            <a:spAutoFit/>
          </a:bodyPr>
          <a:lstStyle/>
          <a:p>
            <a:pPr algn="ctr"/>
            <a:r>
              <a:rPr lang="en-US" sz="2400" dirty="0"/>
              <a:t>Access</a:t>
            </a:r>
            <a:br>
              <a:rPr lang="en-US" sz="2400" dirty="0"/>
            </a:br>
            <a:r>
              <a:rPr lang="en-US" sz="2400" dirty="0"/>
              <a:t>Control</a:t>
            </a:r>
            <a:br>
              <a:rPr lang="en-US" sz="2400" dirty="0"/>
            </a:br>
            <a:r>
              <a:rPr lang="en-US" sz="2400" dirty="0"/>
              <a:t>List</a:t>
            </a:r>
          </a:p>
        </p:txBody>
      </p:sp>
    </p:spTree>
    <p:extLst>
      <p:ext uri="{BB962C8B-B14F-4D97-AF65-F5344CB8AC3E}">
        <p14:creationId xmlns:p14="http://schemas.microsoft.com/office/powerpoint/2010/main" val="2876213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44E6-1A3C-F034-DEE7-5A7E6C55D3D8}"/>
              </a:ext>
            </a:extLst>
          </p:cNvPr>
          <p:cNvSpPr>
            <a:spLocks noGrp="1"/>
          </p:cNvSpPr>
          <p:nvPr>
            <p:ph type="title"/>
          </p:nvPr>
        </p:nvSpPr>
        <p:spPr/>
        <p:txBody>
          <a:bodyPr/>
          <a:lstStyle/>
          <a:p>
            <a:r>
              <a:rPr lang="en-US" dirty="0"/>
              <a:t>Where Should Data Be Encrypted?</a:t>
            </a:r>
          </a:p>
        </p:txBody>
      </p:sp>
      <p:sp>
        <p:nvSpPr>
          <p:cNvPr id="3" name="Rectangle: Rounded Corners 2">
            <a:extLst>
              <a:ext uri="{FF2B5EF4-FFF2-40B4-BE49-F238E27FC236}">
                <a16:creationId xmlns:a16="http://schemas.microsoft.com/office/drawing/2014/main" id="{5DE70245-FAB5-7319-0203-1F48BE23C171}"/>
              </a:ext>
            </a:extLst>
          </p:cNvPr>
          <p:cNvSpPr/>
          <p:nvPr/>
        </p:nvSpPr>
        <p:spPr>
          <a:xfrm>
            <a:off x="2514600" y="2209800"/>
            <a:ext cx="2819400" cy="762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400" dirty="0"/>
              <a:t>Storage</a:t>
            </a:r>
          </a:p>
          <a:p>
            <a:pPr algn="ctr"/>
            <a:r>
              <a:rPr lang="en-US" sz="2000" dirty="0"/>
              <a:t>(data at rest)</a:t>
            </a:r>
          </a:p>
        </p:txBody>
      </p:sp>
      <p:sp>
        <p:nvSpPr>
          <p:cNvPr id="4" name="Rectangle: Rounded Corners 3">
            <a:extLst>
              <a:ext uri="{FF2B5EF4-FFF2-40B4-BE49-F238E27FC236}">
                <a16:creationId xmlns:a16="http://schemas.microsoft.com/office/drawing/2014/main" id="{A17CB68B-C403-B646-03EB-E7BAEABBC6A6}"/>
              </a:ext>
            </a:extLst>
          </p:cNvPr>
          <p:cNvSpPr/>
          <p:nvPr/>
        </p:nvSpPr>
        <p:spPr>
          <a:xfrm>
            <a:off x="2514600" y="3429000"/>
            <a:ext cx="2819400" cy="7620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dirty="0"/>
              <a:t>Processing</a:t>
            </a:r>
          </a:p>
          <a:p>
            <a:pPr algn="ctr"/>
            <a:r>
              <a:rPr lang="en-US" sz="2000" dirty="0"/>
              <a:t>(data in memory)</a:t>
            </a:r>
          </a:p>
        </p:txBody>
      </p:sp>
      <p:sp>
        <p:nvSpPr>
          <p:cNvPr id="5" name="Rectangle: Rounded Corners 4">
            <a:extLst>
              <a:ext uri="{FF2B5EF4-FFF2-40B4-BE49-F238E27FC236}">
                <a16:creationId xmlns:a16="http://schemas.microsoft.com/office/drawing/2014/main" id="{FE5F011B-0D55-DBA5-F449-ADB0040D5341}"/>
              </a:ext>
            </a:extLst>
          </p:cNvPr>
          <p:cNvSpPr/>
          <p:nvPr/>
        </p:nvSpPr>
        <p:spPr>
          <a:xfrm>
            <a:off x="2514600" y="4648200"/>
            <a:ext cx="2819400" cy="7620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t>Transmission</a:t>
            </a:r>
            <a:br>
              <a:rPr lang="en-US" sz="2400" dirty="0"/>
            </a:br>
            <a:r>
              <a:rPr lang="en-US" sz="2000" dirty="0"/>
              <a:t>(data in transit)</a:t>
            </a:r>
          </a:p>
        </p:txBody>
      </p:sp>
      <p:pic>
        <p:nvPicPr>
          <p:cNvPr id="9" name="Graphic 8" descr="Sleep outline">
            <a:extLst>
              <a:ext uri="{FF2B5EF4-FFF2-40B4-BE49-F238E27FC236}">
                <a16:creationId xmlns:a16="http://schemas.microsoft.com/office/drawing/2014/main" id="{83C914F3-0C1E-E166-147E-4E6E37B7C9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3200" y="1790700"/>
            <a:ext cx="1600200" cy="1600200"/>
          </a:xfrm>
          <a:prstGeom prst="rect">
            <a:avLst/>
          </a:prstGeom>
        </p:spPr>
      </p:pic>
      <p:pic>
        <p:nvPicPr>
          <p:cNvPr id="11" name="Graphic 10" descr="Workflow outline">
            <a:extLst>
              <a:ext uri="{FF2B5EF4-FFF2-40B4-BE49-F238E27FC236}">
                <a16:creationId xmlns:a16="http://schemas.microsoft.com/office/drawing/2014/main" id="{AE7468CA-219A-321C-AA60-9FA7335159F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05600" y="3162300"/>
            <a:ext cx="1295400" cy="1295400"/>
          </a:xfrm>
          <a:prstGeom prst="rect">
            <a:avLst/>
          </a:prstGeom>
        </p:spPr>
      </p:pic>
      <p:pic>
        <p:nvPicPr>
          <p:cNvPr id="13" name="Graphic 12" descr="Bus outline">
            <a:extLst>
              <a:ext uri="{FF2B5EF4-FFF2-40B4-BE49-F238E27FC236}">
                <a16:creationId xmlns:a16="http://schemas.microsoft.com/office/drawing/2014/main" id="{6A11AF21-B397-0596-1315-9B7B9EEBDF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29401" y="4305301"/>
            <a:ext cx="1447798" cy="1447798"/>
          </a:xfrm>
          <a:prstGeom prst="rect">
            <a:avLst/>
          </a:prstGeom>
        </p:spPr>
      </p:pic>
    </p:spTree>
    <p:extLst>
      <p:ext uri="{BB962C8B-B14F-4D97-AF65-F5344CB8AC3E}">
        <p14:creationId xmlns:p14="http://schemas.microsoft.com/office/powerpoint/2010/main" val="2847705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6B58F-80C9-C325-1E9E-A4AB18E5DE7D}"/>
              </a:ext>
            </a:extLst>
          </p:cNvPr>
          <p:cNvSpPr>
            <a:spLocks noGrp="1"/>
          </p:cNvSpPr>
          <p:nvPr>
            <p:ph type="title"/>
          </p:nvPr>
        </p:nvSpPr>
        <p:spPr/>
        <p:txBody>
          <a:bodyPr/>
          <a:lstStyle/>
          <a:p>
            <a:r>
              <a:rPr lang="en-US" dirty="0"/>
              <a:t>Anti-Malware</a:t>
            </a:r>
          </a:p>
        </p:txBody>
      </p:sp>
      <p:sp>
        <p:nvSpPr>
          <p:cNvPr id="5" name="Content Placeholder 4">
            <a:extLst>
              <a:ext uri="{FF2B5EF4-FFF2-40B4-BE49-F238E27FC236}">
                <a16:creationId xmlns:a16="http://schemas.microsoft.com/office/drawing/2014/main" id="{F24296C3-1CF3-F9A2-A78A-13C2D82600BE}"/>
              </a:ext>
            </a:extLst>
          </p:cNvPr>
          <p:cNvSpPr>
            <a:spLocks noGrp="1"/>
          </p:cNvSpPr>
          <p:nvPr>
            <p:ph idx="1"/>
          </p:nvPr>
        </p:nvSpPr>
        <p:spPr>
          <a:xfrm>
            <a:off x="838200" y="1825625"/>
            <a:ext cx="7924800" cy="4351338"/>
          </a:xfrm>
        </p:spPr>
        <p:txBody>
          <a:bodyPr>
            <a:normAutofit lnSpcReduction="10000"/>
          </a:bodyPr>
          <a:lstStyle/>
          <a:p>
            <a:r>
              <a:rPr lang="en-US" dirty="0"/>
              <a:t>Browser Antivirus</a:t>
            </a:r>
          </a:p>
          <a:p>
            <a:pPr lvl="1"/>
            <a:r>
              <a:rPr lang="en-US" dirty="0"/>
              <a:t>All major browsers have built-in scanning of downloads.</a:t>
            </a:r>
          </a:p>
          <a:p>
            <a:r>
              <a:rPr lang="en-US" dirty="0"/>
              <a:t>Computer Antivirus</a:t>
            </a:r>
          </a:p>
          <a:p>
            <a:pPr lvl="1"/>
            <a:r>
              <a:rPr lang="en-US" dirty="0"/>
              <a:t>Microsoft Defender (formerly Windows Defender)</a:t>
            </a:r>
          </a:p>
          <a:p>
            <a:pPr lvl="1"/>
            <a:r>
              <a:rPr lang="en-US" dirty="0"/>
              <a:t>Apple XProtect</a:t>
            </a:r>
          </a:p>
          <a:p>
            <a:pPr lvl="1"/>
            <a:r>
              <a:rPr lang="en-US" dirty="0"/>
              <a:t>Third-Party</a:t>
            </a:r>
          </a:p>
          <a:p>
            <a:r>
              <a:rPr lang="en-US" dirty="0"/>
              <a:t>Firewall Antivirus</a:t>
            </a:r>
          </a:p>
          <a:p>
            <a:pPr lvl="1"/>
            <a:r>
              <a:rPr lang="en-US" dirty="0"/>
              <a:t>Firewalls may include virus filters but </a:t>
            </a:r>
            <a:r>
              <a:rPr lang="en-US"/>
              <a:t>HTTPS encryption hides </a:t>
            </a:r>
            <a:r>
              <a:rPr lang="en-US" dirty="0"/>
              <a:t>traffic from the firewall. So you have to set it up as an HTTP proxy.</a:t>
            </a:r>
          </a:p>
          <a:p>
            <a:endParaRPr lang="en-US" dirty="0"/>
          </a:p>
        </p:txBody>
      </p:sp>
      <p:pic>
        <p:nvPicPr>
          <p:cNvPr id="4" name="Graphic 3" descr="Immunity with solid fill">
            <a:extLst>
              <a:ext uri="{FF2B5EF4-FFF2-40B4-BE49-F238E27FC236}">
                <a16:creationId xmlns:a16="http://schemas.microsoft.com/office/drawing/2014/main" id="{4E93F229-DA67-0A79-1B86-51221A6C3D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44000" y="914400"/>
            <a:ext cx="2133600" cy="2133600"/>
          </a:xfrm>
          <a:prstGeom prst="rect">
            <a:avLst/>
          </a:prstGeom>
        </p:spPr>
      </p:pic>
    </p:spTree>
    <p:extLst>
      <p:ext uri="{BB962C8B-B14F-4D97-AF65-F5344CB8AC3E}">
        <p14:creationId xmlns:p14="http://schemas.microsoft.com/office/powerpoint/2010/main" val="3210539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193</Words>
  <Application>Microsoft Office PowerPoint</Application>
  <PresentationFormat>Widescreen</PresentationFormat>
  <Paragraphs>33</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Consolas</vt:lpstr>
      <vt:lpstr>Office Theme</vt:lpstr>
      <vt:lpstr>Securing Access to Data on a Computer</vt:lpstr>
      <vt:lpstr>But first… a demo</vt:lpstr>
      <vt:lpstr>Securing Data</vt:lpstr>
      <vt:lpstr>Authentication Credentials</vt:lpstr>
      <vt:lpstr>Authorization</vt:lpstr>
      <vt:lpstr>Where Should Data Be Encrypted?</vt:lpstr>
      <vt:lpstr>Anti-Malware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Brandt Redd</dc:creator>
  <cp:lastModifiedBy>Brandt Redd</cp:lastModifiedBy>
  <cp:revision>1</cp:revision>
  <dcterms:created xsi:type="dcterms:W3CDTF">2024-10-16T03:57:45Z</dcterms:created>
  <dcterms:modified xsi:type="dcterms:W3CDTF">2025-01-22T06:12:16Z</dcterms:modified>
</cp:coreProperties>
</file>