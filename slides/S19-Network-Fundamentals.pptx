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6" r:id="rId3"/>
    <p:sldId id="257" r:id="rId4"/>
    <p:sldId id="298" r:id="rId5"/>
    <p:sldId id="299" r:id="rId6"/>
    <p:sldId id="300" r:id="rId7"/>
    <p:sldId id="301" r:id="rId8"/>
    <p:sldId id="302" r:id="rId9"/>
    <p:sldId id="303" r:id="rId10"/>
    <p:sldId id="307" r:id="rId11"/>
    <p:sldId id="304" r:id="rId12"/>
    <p:sldId id="305" r:id="rId13"/>
    <p:sldId id="308" r:id="rId14"/>
    <p:sldId id="309" r:id="rId15"/>
    <p:sldId id="310" r:id="rId16"/>
    <p:sldId id="328" r:id="rId17"/>
    <p:sldId id="329" r:id="rId18"/>
    <p:sldId id="330" r:id="rId19"/>
    <p:sldId id="277" r:id="rId20"/>
    <p:sldId id="358" r:id="rId21"/>
    <p:sldId id="359" r:id="rId22"/>
    <p:sldId id="3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AD183-CD86-4F47-B376-FB4A56624025}" v="6" dt="2024-11-11T23:50:05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>
      <p:cViewPr varScale="1">
        <p:scale>
          <a:sx n="113" d="100"/>
          <a:sy n="113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342AD183-CD86-4F47-B376-FB4A56624025}"/>
    <pc:docChg chg="undo custSel addSld modSld sldOrd">
      <pc:chgData name="Brandt Redd" userId="be8ed540b98adac0" providerId="LiveId" clId="{342AD183-CD86-4F47-B376-FB4A56624025}" dt="2024-11-17T03:48:10.106" v="1779" actId="20577"/>
      <pc:docMkLst>
        <pc:docMk/>
      </pc:docMkLst>
      <pc:sldChg chg="delSp add mod">
        <pc:chgData name="Brandt Redd" userId="be8ed540b98adac0" providerId="LiveId" clId="{342AD183-CD86-4F47-B376-FB4A56624025}" dt="2024-11-11T23:24:25.520" v="34" actId="478"/>
        <pc:sldMkLst>
          <pc:docMk/>
          <pc:sldMk cId="0" sldId="277"/>
        </pc:sldMkLst>
        <pc:spChg chg="del">
          <ac:chgData name="Brandt Redd" userId="be8ed540b98adac0" providerId="LiveId" clId="{342AD183-CD86-4F47-B376-FB4A56624025}" dt="2024-11-11T23:24:25.520" v="34" actId="478"/>
          <ac:spMkLst>
            <pc:docMk/>
            <pc:sldMk cId="0" sldId="277"/>
            <ac:spMk id="2" creationId="{CB416B13-A484-4B65-8B36-C583EA13F84A}"/>
          </ac:spMkLst>
        </pc:spChg>
      </pc:sldChg>
      <pc:sldChg chg="modSp mod">
        <pc:chgData name="Brandt Redd" userId="be8ed540b98adac0" providerId="LiveId" clId="{342AD183-CD86-4F47-B376-FB4A56624025}" dt="2024-11-11T23:11:35.934" v="1" actId="14100"/>
        <pc:sldMkLst>
          <pc:docMk/>
          <pc:sldMk cId="2316401246" sldId="300"/>
        </pc:sldMkLst>
        <pc:spChg chg="mod">
          <ac:chgData name="Brandt Redd" userId="be8ed540b98adac0" providerId="LiveId" clId="{342AD183-CD86-4F47-B376-FB4A56624025}" dt="2024-11-11T23:11:35.934" v="1" actId="14100"/>
          <ac:spMkLst>
            <pc:docMk/>
            <pc:sldMk cId="2316401246" sldId="300"/>
            <ac:spMk id="6" creationId="{40B0B977-ED5A-0A8E-4C63-D4AF199FC4F7}"/>
          </ac:spMkLst>
        </pc:spChg>
      </pc:sldChg>
      <pc:sldChg chg="modSp mod">
        <pc:chgData name="Brandt Redd" userId="be8ed540b98adac0" providerId="LiveId" clId="{342AD183-CD86-4F47-B376-FB4A56624025}" dt="2024-11-11T23:12:01.027" v="8" actId="20577"/>
        <pc:sldMkLst>
          <pc:docMk/>
          <pc:sldMk cId="2581805551" sldId="301"/>
        </pc:sldMkLst>
        <pc:spChg chg="mod">
          <ac:chgData name="Brandt Redd" userId="be8ed540b98adac0" providerId="LiveId" clId="{342AD183-CD86-4F47-B376-FB4A56624025}" dt="2024-11-11T23:11:48.884" v="3" actId="14100"/>
          <ac:spMkLst>
            <pc:docMk/>
            <pc:sldMk cId="2581805551" sldId="301"/>
            <ac:spMk id="6" creationId="{E6E02791-44AF-A652-1553-A3E19D249E03}"/>
          </ac:spMkLst>
        </pc:spChg>
        <pc:spChg chg="mod">
          <ac:chgData name="Brandt Redd" userId="be8ed540b98adac0" providerId="LiveId" clId="{342AD183-CD86-4F47-B376-FB4A56624025}" dt="2024-11-11T23:12:01.027" v="8" actId="20577"/>
          <ac:spMkLst>
            <pc:docMk/>
            <pc:sldMk cId="2581805551" sldId="301"/>
            <ac:spMk id="7" creationId="{B148E049-6F53-C184-3730-A1F4A9D110E8}"/>
          </ac:spMkLst>
        </pc:spChg>
      </pc:sldChg>
      <pc:sldChg chg="modSp mod">
        <pc:chgData name="Brandt Redd" userId="be8ed540b98adac0" providerId="LiveId" clId="{342AD183-CD86-4F47-B376-FB4A56624025}" dt="2024-11-17T03:48:10.106" v="1779" actId="20577"/>
        <pc:sldMkLst>
          <pc:docMk/>
          <pc:sldMk cId="1416554957" sldId="309"/>
        </pc:sldMkLst>
        <pc:spChg chg="mod">
          <ac:chgData name="Brandt Redd" userId="be8ed540b98adac0" providerId="LiveId" clId="{342AD183-CD86-4F47-B376-FB4A56624025}" dt="2024-11-17T03:48:04.844" v="1777" actId="20577"/>
          <ac:spMkLst>
            <pc:docMk/>
            <pc:sldMk cId="1416554957" sldId="309"/>
            <ac:spMk id="4" creationId="{651A7A1D-FA3E-8A55-4C86-CE28A0E6370C}"/>
          </ac:spMkLst>
        </pc:spChg>
        <pc:spChg chg="mod">
          <ac:chgData name="Brandt Redd" userId="be8ed540b98adac0" providerId="LiveId" clId="{342AD183-CD86-4F47-B376-FB4A56624025}" dt="2024-11-17T03:48:10.106" v="1779" actId="20577"/>
          <ac:spMkLst>
            <pc:docMk/>
            <pc:sldMk cId="1416554957" sldId="309"/>
            <ac:spMk id="5" creationId="{9829FD8C-FF34-D7EB-C9CE-4B3F54C021AD}"/>
          </ac:spMkLst>
        </pc:spChg>
      </pc:sldChg>
      <pc:sldChg chg="modSp new mod ord">
        <pc:chgData name="Brandt Redd" userId="be8ed540b98adac0" providerId="LiveId" clId="{342AD183-CD86-4F47-B376-FB4A56624025}" dt="2024-11-11T23:26:30.860" v="230" actId="20577"/>
        <pc:sldMkLst>
          <pc:docMk/>
          <pc:sldMk cId="3291356627" sldId="330"/>
        </pc:sldMkLst>
        <pc:spChg chg="mod">
          <ac:chgData name="Brandt Redd" userId="be8ed540b98adac0" providerId="LiveId" clId="{342AD183-CD86-4F47-B376-FB4A56624025}" dt="2024-11-11T23:12:20.386" v="31" actId="20577"/>
          <ac:spMkLst>
            <pc:docMk/>
            <pc:sldMk cId="3291356627" sldId="330"/>
            <ac:spMk id="2" creationId="{DF6445A3-8158-FDB6-45F0-C3ADA2B9E978}"/>
          </ac:spMkLst>
        </pc:spChg>
        <pc:spChg chg="mod">
          <ac:chgData name="Brandt Redd" userId="be8ed540b98adac0" providerId="LiveId" clId="{342AD183-CD86-4F47-B376-FB4A56624025}" dt="2024-11-11T23:26:30.860" v="230" actId="20577"/>
          <ac:spMkLst>
            <pc:docMk/>
            <pc:sldMk cId="3291356627" sldId="330"/>
            <ac:spMk id="3" creationId="{82C2CDE6-AA55-9CD8-A443-0F0BB8DA1908}"/>
          </ac:spMkLst>
        </pc:spChg>
      </pc:sldChg>
      <pc:sldChg chg="modSp add mod">
        <pc:chgData name="Brandt Redd" userId="be8ed540b98adac0" providerId="LiveId" clId="{342AD183-CD86-4F47-B376-FB4A56624025}" dt="2024-11-11T23:25:00.202" v="54" actId="20577"/>
        <pc:sldMkLst>
          <pc:docMk/>
          <pc:sldMk cId="970031382" sldId="358"/>
        </pc:sldMkLst>
        <pc:spChg chg="mod">
          <ac:chgData name="Brandt Redd" userId="be8ed540b98adac0" providerId="LiveId" clId="{342AD183-CD86-4F47-B376-FB4A56624025}" dt="2024-11-11T23:24:43.037" v="52" actId="20577"/>
          <ac:spMkLst>
            <pc:docMk/>
            <pc:sldMk cId="970031382" sldId="358"/>
            <ac:spMk id="2" creationId="{F152D87B-4B43-ABDD-4471-582CDA059E74}"/>
          </ac:spMkLst>
        </pc:spChg>
        <pc:spChg chg="mod">
          <ac:chgData name="Brandt Redd" userId="be8ed540b98adac0" providerId="LiveId" clId="{342AD183-CD86-4F47-B376-FB4A56624025}" dt="2024-11-11T23:24:13.256" v="33" actId="27636"/>
          <ac:spMkLst>
            <pc:docMk/>
            <pc:sldMk cId="970031382" sldId="358"/>
            <ac:spMk id="3" creationId="{F8EC6AB3-AC58-053E-5193-DC53B75D6CEA}"/>
          </ac:spMkLst>
        </pc:spChg>
        <pc:spChg chg="mod">
          <ac:chgData name="Brandt Redd" userId="be8ed540b98adac0" providerId="LiveId" clId="{342AD183-CD86-4F47-B376-FB4A56624025}" dt="2024-11-11T23:25:00.202" v="54" actId="20577"/>
          <ac:spMkLst>
            <pc:docMk/>
            <pc:sldMk cId="970031382" sldId="358"/>
            <ac:spMk id="5" creationId="{622FC619-0693-4DFE-9848-EB387825FC1D}"/>
          </ac:spMkLst>
        </pc:spChg>
      </pc:sldChg>
      <pc:sldChg chg="addSp modSp new mod">
        <pc:chgData name="Brandt Redd" userId="be8ed540b98adac0" providerId="LiveId" clId="{342AD183-CD86-4F47-B376-FB4A56624025}" dt="2024-11-11T23:41:45.117" v="924" actId="27636"/>
        <pc:sldMkLst>
          <pc:docMk/>
          <pc:sldMk cId="3148290356" sldId="359"/>
        </pc:sldMkLst>
        <pc:spChg chg="mod">
          <ac:chgData name="Brandt Redd" userId="be8ed540b98adac0" providerId="LiveId" clId="{342AD183-CD86-4F47-B376-FB4A56624025}" dt="2024-11-11T23:32:45.440" v="595" actId="1076"/>
          <ac:spMkLst>
            <pc:docMk/>
            <pc:sldMk cId="3148290356" sldId="359"/>
            <ac:spMk id="2" creationId="{4F6C87C7-FA65-CABB-6E8F-8228419526A1}"/>
          </ac:spMkLst>
        </pc:spChg>
        <pc:spChg chg="mod">
          <ac:chgData name="Brandt Redd" userId="be8ed540b98adac0" providerId="LiveId" clId="{342AD183-CD86-4F47-B376-FB4A56624025}" dt="2024-11-11T23:41:45.117" v="924" actId="27636"/>
          <ac:spMkLst>
            <pc:docMk/>
            <pc:sldMk cId="3148290356" sldId="359"/>
            <ac:spMk id="3" creationId="{76186D01-A437-7653-30E9-7E7629052DE1}"/>
          </ac:spMkLst>
        </pc:spChg>
        <pc:picChg chg="add mod">
          <ac:chgData name="Brandt Redd" userId="be8ed540b98adac0" providerId="LiveId" clId="{342AD183-CD86-4F47-B376-FB4A56624025}" dt="2024-11-11T23:32:27.071" v="590" actId="1076"/>
          <ac:picMkLst>
            <pc:docMk/>
            <pc:sldMk cId="3148290356" sldId="359"/>
            <ac:picMk id="5" creationId="{3DAD6123-600E-0A6B-FE94-97612E5F2AF4}"/>
          </ac:picMkLst>
        </pc:picChg>
      </pc:sldChg>
      <pc:sldChg chg="addSp modSp new mod">
        <pc:chgData name="Brandt Redd" userId="be8ed540b98adac0" providerId="LiveId" clId="{342AD183-CD86-4F47-B376-FB4A56624025}" dt="2024-11-13T06:40:10.182" v="1775" actId="20577"/>
        <pc:sldMkLst>
          <pc:docMk/>
          <pc:sldMk cId="2890056941" sldId="360"/>
        </pc:sldMkLst>
        <pc:spChg chg="mod">
          <ac:chgData name="Brandt Redd" userId="be8ed540b98adac0" providerId="LiveId" clId="{342AD183-CD86-4F47-B376-FB4A56624025}" dt="2024-11-13T06:40:10.182" v="1775" actId="20577"/>
          <ac:spMkLst>
            <pc:docMk/>
            <pc:sldMk cId="2890056941" sldId="360"/>
            <ac:spMk id="2" creationId="{F8156F22-7327-B4AD-DA0F-544228F5E04F}"/>
          </ac:spMkLst>
        </pc:spChg>
        <pc:spChg chg="mod">
          <ac:chgData name="Brandt Redd" userId="be8ed540b98adac0" providerId="LiveId" clId="{342AD183-CD86-4F47-B376-FB4A56624025}" dt="2024-11-12T00:19:49.794" v="1770" actId="27636"/>
          <ac:spMkLst>
            <pc:docMk/>
            <pc:sldMk cId="2890056941" sldId="360"/>
            <ac:spMk id="3" creationId="{3CC663F4-A8A3-142D-2B95-D895832763F6}"/>
          </ac:spMkLst>
        </pc:spChg>
        <pc:picChg chg="add mod">
          <ac:chgData name="Brandt Redd" userId="be8ed540b98adac0" providerId="LiveId" clId="{342AD183-CD86-4F47-B376-FB4A56624025}" dt="2024-11-11T23:50:05.522" v="1667" actId="1076"/>
          <ac:picMkLst>
            <pc:docMk/>
            <pc:sldMk cId="2890056941" sldId="360"/>
            <ac:picMk id="1026" creationId="{E1B1B0E1-42AA-1C2C-D66C-85EA08F1B2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DEBD5-C498-477E-8B45-1E50D30171C7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911EE-7014-4C50-8159-64D388F9A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1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about/brand-center/network-topology-icons.htm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kind of MAC address would your router likely have?</a:t>
            </a:r>
          </a:p>
          <a:p>
            <a:r>
              <a:rPr lang="en-US" dirty="0"/>
              <a:t>Which kind of MAC address would a virtual machine likely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911EE-7014-4C50-8159-64D388F9A4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64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diagram I’m using the Cisco icon library. </a:t>
            </a:r>
            <a:r>
              <a:rPr lang="en-US" dirty="0">
                <a:hlinkClick r:id="rId3"/>
              </a:rPr>
              <a:t>https://www.cisco.com/c/en/us/about/brand-center/network-topology-icons.html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3C98D-557F-4221-823D-AE3D6E4FE2C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334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Internet is best thought of as the hardware,</a:t>
            </a:r>
            <a:r>
              <a:rPr lang="en-US" baseline="0" dirty="0"/>
              <a:t> though it is also the network protocols like IP/TCP.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DE30A3-0DCE-491B-8590-4384FFA0E6B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3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C85B-A98E-2972-A5F5-37321AE5A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B3DE7-9AE0-0A8B-CC37-08E606418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E35CC-4A2B-F77C-BBB4-6E66E4DE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54011-A1AB-F3ED-B057-34B0A65C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C295-B001-AE32-9A00-BDD56B3E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9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A4FA-C0EA-970F-3009-7D0B2ABE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3C6E-7EA9-329A-FF98-6059B4AD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4047C-8AE6-6530-2151-8FA81CDC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42DB6-54B9-94E6-EABB-350E8386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39DB-F7ED-5878-E121-AF5FDC29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3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F477-A9E8-263B-3928-45A54F29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7990-E4B5-A76F-3254-22F197F4E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550F5-9C0B-978E-AE73-A2C8E86A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0A22B-10E2-4B65-C6DF-4C8C3B1D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2568E-1A5A-B278-7914-7E02C292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1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1B53-3229-B3B4-C989-1823864C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6100B-E30E-40FE-BF06-B406F9C8C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C2223-41A8-DAB5-7215-0D17D2303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32C5B-BBA7-4676-98BC-38250C1B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21469-5A1A-18EE-04A7-69F1B82F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3F118-F944-BF49-AC8A-A1C8995B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0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BF7C-050C-3A6D-E9A9-DF3FD92A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02C3-8196-82A9-D9B6-BFBF3739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DDE18-7AB0-ED06-0AB4-FC9BE6956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B69A1-71AD-97F6-E499-0093C903D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78A0E-0DCD-9A56-1C1E-98DE8466D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12214-8A83-BEC7-0EE4-23007008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BB573-70C0-08D9-41A1-83F417A8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85F2F-748B-B990-4DC9-5575BB9F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130D-EC52-7271-303A-0BB415E3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F6504-FD73-598D-FF0C-43EC97DC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C8FA7-4E6B-B424-1BB1-6AD44C03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55AA7-52EC-306C-C37F-A7D5B7FD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6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B60F4-DAFC-0217-9F68-A829BFA8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615D0C-D2F4-730C-6BC7-769ED5F7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3ECD8-68C9-E53D-1649-FA834140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5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4B70-ACED-79BE-D773-6C724605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F812-0B3F-6615-25F2-37B0464C4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BC3F7-D4FB-4890-E3E0-1DE48A3C0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937B9-23EB-C42C-9C9A-2D93CD9F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EA6AC-8121-1E24-AF50-9A17F9C1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E34D6-5C49-DB01-7A47-6AF61558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5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390B-A6A8-DDF2-9025-FE08578D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5B830-4896-D1AE-DAED-B49E54B6D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BFCFF-598B-EB8C-3AC0-695D41322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4B552-19CB-38D9-6FA6-C0572CB3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F6409-E5F6-ADF4-C638-5A3FACB1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80CC6-B5D6-77C6-3218-32E6A95D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425F-2419-CCEB-57B5-15E0A9AF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15F72-A7C3-2423-384D-5E91BDC8F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B0C34-E114-091D-C03C-AF607056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38AD-8644-1B61-36FF-B6242BF5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C6A5-A014-F7F1-E7AA-D253F96A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2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50AD4-233C-73C6-82D9-83472732E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95839-AEA2-34F7-D30C-8699DAE45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47F77-A79B-BCA8-ADE7-85A90994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6EF85-B8AE-354F-3EF8-5193A468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6CD5B-E723-1A16-6D09-A7073FFD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4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3B43F-BF91-EA0D-4C92-419584CA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3ACD5-1647-90AE-B2B7-3BD514BED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34CB4-843F-3A0C-C6B5-414B72A6A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EB2A9-9569-4E0E-8767-176C197C90DB}" type="datetimeFigureOut">
              <a:rPr lang="en-US" smtClean="0"/>
              <a:t>2024-11-16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6EA74-962F-A1A4-9437-CF3A7AA6E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22E40-90DF-0AB7-26C3-89548418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BE92A-A2BB-4037-9802-69F51EF9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ier_1_network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ian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F296-A760-B9C3-B230-DB87A7981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726F5-950B-44A7-B2E9-3E82DB5CB7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S19</a:t>
            </a:r>
          </a:p>
        </p:txBody>
      </p:sp>
    </p:spTree>
    <p:extLst>
      <p:ext uri="{BB962C8B-B14F-4D97-AF65-F5344CB8AC3E}">
        <p14:creationId xmlns:p14="http://schemas.microsoft.com/office/powerpoint/2010/main" val="209588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5EBC-02C0-4EE1-B1DC-51522B3A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9469"/>
            <a:ext cx="2895600" cy="1143000"/>
          </a:xfrm>
        </p:spPr>
        <p:txBody>
          <a:bodyPr/>
          <a:lstStyle/>
          <a:p>
            <a:pPr algn="ctr"/>
            <a:r>
              <a:rPr lang="en-US" dirty="0"/>
              <a:t>OSI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27CA8F-5B95-4791-8CDD-D5EB9A35EE9A}"/>
              </a:ext>
            </a:extLst>
          </p:cNvPr>
          <p:cNvSpPr/>
          <p:nvPr/>
        </p:nvSpPr>
        <p:spPr>
          <a:xfrm>
            <a:off x="2511670" y="1417639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7. Application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5F91F7-4990-4A68-9F2D-597EF85710D2}"/>
              </a:ext>
            </a:extLst>
          </p:cNvPr>
          <p:cNvSpPr/>
          <p:nvPr/>
        </p:nvSpPr>
        <p:spPr>
          <a:xfrm>
            <a:off x="2511670" y="3642520"/>
            <a:ext cx="1907930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4. Transport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C9867D-952C-4FD4-83AD-47CB37A79EDE}"/>
              </a:ext>
            </a:extLst>
          </p:cNvPr>
          <p:cNvSpPr/>
          <p:nvPr/>
        </p:nvSpPr>
        <p:spPr>
          <a:xfrm>
            <a:off x="2511670" y="4384147"/>
            <a:ext cx="1907930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3. Network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1DFD2D-E509-4A3C-9F4E-B6869BDAD624}"/>
              </a:ext>
            </a:extLst>
          </p:cNvPr>
          <p:cNvSpPr/>
          <p:nvPr/>
        </p:nvSpPr>
        <p:spPr>
          <a:xfrm>
            <a:off x="2511670" y="5125774"/>
            <a:ext cx="190793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2. Data Link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AB75BA-A8F7-4480-86BD-48E10911CA2A}"/>
              </a:ext>
            </a:extLst>
          </p:cNvPr>
          <p:cNvSpPr/>
          <p:nvPr/>
        </p:nvSpPr>
        <p:spPr>
          <a:xfrm>
            <a:off x="2511670" y="5867400"/>
            <a:ext cx="1907930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1. Physical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A97124-067F-4733-BB17-10055783D29A}"/>
              </a:ext>
            </a:extLst>
          </p:cNvPr>
          <p:cNvSpPr/>
          <p:nvPr/>
        </p:nvSpPr>
        <p:spPr>
          <a:xfrm>
            <a:off x="2511670" y="2159266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6. Presentation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708D70-542B-4530-9C0A-328D0973B0BD}"/>
              </a:ext>
            </a:extLst>
          </p:cNvPr>
          <p:cNvSpPr/>
          <p:nvPr/>
        </p:nvSpPr>
        <p:spPr>
          <a:xfrm>
            <a:off x="2511670" y="2900893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5. Session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B82F3A-6B57-4CE7-8648-8C37B449DAFC}"/>
              </a:ext>
            </a:extLst>
          </p:cNvPr>
          <p:cNvSpPr/>
          <p:nvPr/>
        </p:nvSpPr>
        <p:spPr>
          <a:xfrm>
            <a:off x="5865935" y="1447800"/>
            <a:ext cx="2516064" cy="2016655"/>
          </a:xfrm>
          <a:prstGeom prst="roundRect">
            <a:avLst>
              <a:gd name="adj" fmla="val 5041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FE1ED7-1312-499D-BB10-B06A4614D09D}"/>
              </a:ext>
            </a:extLst>
          </p:cNvPr>
          <p:cNvSpPr/>
          <p:nvPr/>
        </p:nvSpPr>
        <p:spPr>
          <a:xfrm>
            <a:off x="5865934" y="3672681"/>
            <a:ext cx="2516065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Transport (TCP, UDP)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72ED0B-BC3A-4259-8225-76C3734711AD}"/>
              </a:ext>
            </a:extLst>
          </p:cNvPr>
          <p:cNvSpPr/>
          <p:nvPr/>
        </p:nvSpPr>
        <p:spPr>
          <a:xfrm>
            <a:off x="5865935" y="4414308"/>
            <a:ext cx="2516064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Internetwork (IP)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D11EC57-B665-476F-9582-8051A2284210}"/>
              </a:ext>
            </a:extLst>
          </p:cNvPr>
          <p:cNvSpPr txBox="1">
            <a:spLocks/>
          </p:cNvSpPr>
          <p:nvPr/>
        </p:nvSpPr>
        <p:spPr>
          <a:xfrm>
            <a:off x="5638800" y="274639"/>
            <a:ext cx="289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TCP/IP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71EA80-DFC2-49F6-9B25-C27192949F1F}"/>
              </a:ext>
            </a:extLst>
          </p:cNvPr>
          <p:cNvSpPr txBox="1"/>
          <p:nvPr/>
        </p:nvSpPr>
        <p:spPr>
          <a:xfrm>
            <a:off x="8456735" y="4308887"/>
            <a:ext cx="2033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Routing happens in Layer 3.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F103-81A1-4B91-9FB7-B5B986358607}"/>
              </a:ext>
            </a:extLst>
          </p:cNvPr>
          <p:cNvSpPr txBox="1"/>
          <p:nvPr/>
        </p:nvSpPr>
        <p:spPr>
          <a:xfrm>
            <a:off x="8456735" y="4953000"/>
            <a:ext cx="2363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 hubs, switches, and access points are in Layer 2.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E780B-ADE8-4AF2-A469-101F562A1721}"/>
              </a:ext>
            </a:extLst>
          </p:cNvPr>
          <p:cNvSpPr txBox="1"/>
          <p:nvPr/>
        </p:nvSpPr>
        <p:spPr>
          <a:xfrm>
            <a:off x="8456735" y="3620869"/>
            <a:ext cx="2033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 4 and up are mostly software.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08710D-D6A4-0BCA-67A6-02FD808C1533}"/>
              </a:ext>
            </a:extLst>
          </p:cNvPr>
          <p:cNvSpPr/>
          <p:nvPr/>
        </p:nvSpPr>
        <p:spPr>
          <a:xfrm>
            <a:off x="5864472" y="5128420"/>
            <a:ext cx="2516064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F5B319-AC8C-C136-41F5-656ED4DF75DF}"/>
              </a:ext>
            </a:extLst>
          </p:cNvPr>
          <p:cNvSpPr/>
          <p:nvPr/>
        </p:nvSpPr>
        <p:spPr>
          <a:xfrm>
            <a:off x="5864471" y="5870046"/>
            <a:ext cx="251606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Physical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31425-DE69-DAA5-DBBE-E0AF88B47948}"/>
              </a:ext>
            </a:extLst>
          </p:cNvPr>
          <p:cNvSpPr txBox="1"/>
          <p:nvPr/>
        </p:nvSpPr>
        <p:spPr>
          <a:xfrm>
            <a:off x="8429193" y="5830670"/>
            <a:ext cx="2363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Cables, fiber, and radio are in Layer 1</a:t>
            </a:r>
          </a:p>
        </p:txBody>
      </p:sp>
    </p:spTree>
    <p:extLst>
      <p:ext uri="{BB962C8B-B14F-4D97-AF65-F5344CB8AC3E}">
        <p14:creationId xmlns:p14="http://schemas.microsoft.com/office/powerpoint/2010/main" val="31243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CF03C-92DE-2916-0CC1-B4E8D72CA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324600"/>
          </a:xfrm>
          <a:solidFill>
            <a:schemeClr val="tx1"/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send_udp_message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ip_address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"192.168.145.36"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port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 UDP socket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sock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(AF_INET, SOCK_DGRAM,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Set up the destination address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sockaddr_in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This is C, zeroing isn't automatic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sin_family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AF_INET;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// Address family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htons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(port);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// Port number in network order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inet_pton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(AF_INET,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ip_address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Parse the IP address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Send the message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(sock, message,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(message),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dest_addr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Close the socket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(sock);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53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99F0-D4AE-968D-40E1-091ACCEB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4B78-62D0-C2E6-EEE4-6EE69D1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5: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77F06-37D6-00B2-2B20-DB1B28A23D0E}"/>
              </a:ext>
            </a:extLst>
          </p:cNvPr>
          <p:cNvSpPr/>
          <p:nvPr/>
        </p:nvSpPr>
        <p:spPr>
          <a:xfrm>
            <a:off x="9741548" y="1981200"/>
            <a:ext cx="1889407" cy="36089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Hello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2F5DA-2790-AE06-6E5B-14912B84DE2F}"/>
              </a:ext>
            </a:extLst>
          </p:cNvPr>
          <p:cNvSpPr txBox="1"/>
          <p:nvPr/>
        </p:nvSpPr>
        <p:spPr>
          <a:xfrm>
            <a:off x="9741548" y="1600201"/>
            <a:ext cx="130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12246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FFC4-3F56-7D70-ED91-F79253F7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61-DF1B-F7B5-877A-BDCBE468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4: Transport (UDP)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2C78E-2CC8-63E7-BFCE-8F2F08E3F86B}"/>
              </a:ext>
            </a:extLst>
          </p:cNvPr>
          <p:cNvSpPr/>
          <p:nvPr/>
        </p:nvSpPr>
        <p:spPr>
          <a:xfrm>
            <a:off x="9741548" y="1981200"/>
            <a:ext cx="1889407" cy="36089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Hello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05F4C0-02AC-CB28-D051-C873F17F9D9E}"/>
              </a:ext>
            </a:extLst>
          </p:cNvPr>
          <p:cNvSpPr/>
          <p:nvPr/>
        </p:nvSpPr>
        <p:spPr>
          <a:xfrm>
            <a:off x="6775774" y="1981200"/>
            <a:ext cx="2819400" cy="1219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/>
              <a:t>Source Port: 29345</a:t>
            </a:r>
            <a:br>
              <a:rPr lang="en-US" i="1" dirty="0"/>
            </a:br>
            <a:r>
              <a:rPr lang="en-US" i="1" dirty="0"/>
              <a:t>Destination Port: 7</a:t>
            </a:r>
          </a:p>
          <a:p>
            <a:r>
              <a:rPr lang="en-US" i="1" dirty="0"/>
              <a:t>Length: 5</a:t>
            </a:r>
          </a:p>
          <a:p>
            <a:r>
              <a:rPr lang="en-US" i="1" dirty="0"/>
              <a:t>Checksum: 0x3F9D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93934-88AA-6159-1138-DE06E4C022DB}"/>
              </a:ext>
            </a:extLst>
          </p:cNvPr>
          <p:cNvSpPr txBox="1"/>
          <p:nvPr/>
        </p:nvSpPr>
        <p:spPr>
          <a:xfrm>
            <a:off x="9741548" y="1600201"/>
            <a:ext cx="130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1BCBB-BE3C-8E55-DA15-F9995FD37C4D}"/>
              </a:ext>
            </a:extLst>
          </p:cNvPr>
          <p:cNvSpPr txBox="1"/>
          <p:nvPr/>
        </p:nvSpPr>
        <p:spPr>
          <a:xfrm>
            <a:off x="6775774" y="1600201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 Header</a:t>
            </a:r>
          </a:p>
        </p:txBody>
      </p:sp>
    </p:spTree>
    <p:extLst>
      <p:ext uri="{BB962C8B-B14F-4D97-AF65-F5344CB8AC3E}">
        <p14:creationId xmlns:p14="http://schemas.microsoft.com/office/powerpoint/2010/main" val="4081295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A41D-C100-03D9-4360-1D585BB1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0587-50AD-0426-B4CD-D917CDFC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3: Internetwork (IP)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DE4592-29CC-43BF-3B35-FEE828B63204}"/>
              </a:ext>
            </a:extLst>
          </p:cNvPr>
          <p:cNvSpPr/>
          <p:nvPr/>
        </p:nvSpPr>
        <p:spPr>
          <a:xfrm>
            <a:off x="9741548" y="1981200"/>
            <a:ext cx="1889407" cy="36089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Hello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AC846-47D5-2BED-E321-8127839B0B9E}"/>
              </a:ext>
            </a:extLst>
          </p:cNvPr>
          <p:cNvSpPr/>
          <p:nvPr/>
        </p:nvSpPr>
        <p:spPr>
          <a:xfrm>
            <a:off x="6775774" y="1981200"/>
            <a:ext cx="2819400" cy="122340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/>
              <a:t>Source Port: 29345</a:t>
            </a:r>
            <a:br>
              <a:rPr lang="en-US" i="1" dirty="0"/>
            </a:br>
            <a:r>
              <a:rPr lang="en-US" i="1" dirty="0"/>
              <a:t>Destination Port: 7</a:t>
            </a:r>
          </a:p>
          <a:p>
            <a:r>
              <a:rPr lang="en-US" i="1" dirty="0"/>
              <a:t>Length: 5</a:t>
            </a:r>
          </a:p>
          <a:p>
            <a:r>
              <a:rPr lang="en-US" i="1" dirty="0"/>
              <a:t>Checksum: 0x3F9D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0B977-ED5A-0A8E-4C63-D4AF199FC4F7}"/>
              </a:ext>
            </a:extLst>
          </p:cNvPr>
          <p:cNvSpPr/>
          <p:nvPr/>
        </p:nvSpPr>
        <p:spPr>
          <a:xfrm>
            <a:off x="3616487" y="1982263"/>
            <a:ext cx="3012913" cy="31231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/>
              <a:t>Version: 4</a:t>
            </a:r>
          </a:p>
          <a:p>
            <a:r>
              <a:rPr lang="en-US" i="1" dirty="0" err="1"/>
              <a:t>HeaderLength</a:t>
            </a:r>
            <a:r>
              <a:rPr lang="en-US" i="1" dirty="0"/>
              <a:t>: 20</a:t>
            </a:r>
          </a:p>
          <a:p>
            <a:r>
              <a:rPr lang="en-US" i="1" dirty="0" err="1"/>
              <a:t>TotalPacketLength</a:t>
            </a:r>
            <a:r>
              <a:rPr lang="en-US" i="1" dirty="0"/>
              <a:t>: 33</a:t>
            </a:r>
          </a:p>
          <a:p>
            <a:r>
              <a:rPr lang="en-US" i="1" dirty="0"/>
              <a:t>Length: 5</a:t>
            </a:r>
          </a:p>
          <a:p>
            <a:r>
              <a:rPr lang="en-US" i="1" dirty="0" err="1"/>
              <a:t>FragmentId</a:t>
            </a:r>
            <a:r>
              <a:rPr lang="en-US" i="1" dirty="0"/>
              <a:t>: 0</a:t>
            </a:r>
          </a:p>
          <a:p>
            <a:r>
              <a:rPr lang="en-US" i="1" dirty="0" err="1"/>
              <a:t>FragmentOffset</a:t>
            </a:r>
            <a:r>
              <a:rPr lang="en-US" i="1" dirty="0"/>
              <a:t>: 0</a:t>
            </a:r>
          </a:p>
          <a:p>
            <a:r>
              <a:rPr lang="en-US" i="1" dirty="0" err="1"/>
              <a:t>TimeToLive</a:t>
            </a:r>
            <a:r>
              <a:rPr lang="en-US" i="1" dirty="0"/>
              <a:t>: 30</a:t>
            </a:r>
          </a:p>
          <a:p>
            <a:r>
              <a:rPr lang="en-US" i="1" dirty="0"/>
              <a:t>Protocol: 17 (UDP)</a:t>
            </a:r>
          </a:p>
          <a:p>
            <a:r>
              <a:rPr lang="en-US" i="1" dirty="0"/>
              <a:t>Checksum: 0x4829</a:t>
            </a:r>
          </a:p>
          <a:p>
            <a:r>
              <a:rPr lang="en-US" i="1" dirty="0" err="1"/>
              <a:t>SrcAddress</a:t>
            </a:r>
            <a:r>
              <a:rPr lang="en-US" i="1" dirty="0"/>
              <a:t>: 192.168.145.60</a:t>
            </a:r>
          </a:p>
          <a:p>
            <a:r>
              <a:rPr lang="en-US" i="1" dirty="0" err="1"/>
              <a:t>DstAddress</a:t>
            </a:r>
            <a:r>
              <a:rPr lang="en-US" i="1" dirty="0"/>
              <a:t>: 192.168.145.36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B2BE2-8F43-D136-6BFB-74AFE927415F}"/>
              </a:ext>
            </a:extLst>
          </p:cNvPr>
          <p:cNvSpPr txBox="1"/>
          <p:nvPr/>
        </p:nvSpPr>
        <p:spPr>
          <a:xfrm>
            <a:off x="9741548" y="1600201"/>
            <a:ext cx="130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242C4-4294-2370-003E-C12275139CA3}"/>
              </a:ext>
            </a:extLst>
          </p:cNvPr>
          <p:cNvSpPr txBox="1"/>
          <p:nvPr/>
        </p:nvSpPr>
        <p:spPr>
          <a:xfrm>
            <a:off x="6775774" y="1600201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 Header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4C296-7B9D-EEF5-2A52-05B2B0512D7A}"/>
              </a:ext>
            </a:extLst>
          </p:cNvPr>
          <p:cNvSpPr txBox="1"/>
          <p:nvPr/>
        </p:nvSpPr>
        <p:spPr>
          <a:xfrm>
            <a:off x="3616487" y="1600201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 Header</a:t>
            </a:r>
          </a:p>
        </p:txBody>
      </p:sp>
    </p:spTree>
    <p:extLst>
      <p:ext uri="{BB962C8B-B14F-4D97-AF65-F5344CB8AC3E}">
        <p14:creationId xmlns:p14="http://schemas.microsoft.com/office/powerpoint/2010/main" val="231640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F647-556C-C911-EE0D-A62746B1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17A0-E216-0EA8-D198-25153FCD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2: Link (Ethernet)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F2362-B74A-3BD6-6D01-5DB342D5FAD9}"/>
              </a:ext>
            </a:extLst>
          </p:cNvPr>
          <p:cNvSpPr/>
          <p:nvPr/>
        </p:nvSpPr>
        <p:spPr>
          <a:xfrm>
            <a:off x="9741548" y="1981200"/>
            <a:ext cx="1889407" cy="36089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Hello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BDA26-EAAD-6642-CA26-FEC059332D4E}"/>
              </a:ext>
            </a:extLst>
          </p:cNvPr>
          <p:cNvSpPr/>
          <p:nvPr/>
        </p:nvSpPr>
        <p:spPr>
          <a:xfrm>
            <a:off x="6775774" y="1981200"/>
            <a:ext cx="2819400" cy="14335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/>
              <a:t>Source Port: 29345</a:t>
            </a:r>
            <a:br>
              <a:rPr lang="en-US" i="1" dirty="0"/>
            </a:br>
            <a:r>
              <a:rPr lang="en-US" i="1" dirty="0"/>
              <a:t>Destination Port: 7</a:t>
            </a:r>
          </a:p>
          <a:p>
            <a:r>
              <a:rPr lang="en-US" i="1" dirty="0"/>
              <a:t>Length: 5</a:t>
            </a:r>
          </a:p>
          <a:p>
            <a:r>
              <a:rPr lang="en-US" i="1" dirty="0"/>
              <a:t>Checksum: 0x3F9D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02791-44AF-A652-1553-A3E19D249E03}"/>
              </a:ext>
            </a:extLst>
          </p:cNvPr>
          <p:cNvSpPr/>
          <p:nvPr/>
        </p:nvSpPr>
        <p:spPr>
          <a:xfrm>
            <a:off x="3616487" y="1982263"/>
            <a:ext cx="3012913" cy="31231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/>
              <a:t>Version: 4</a:t>
            </a:r>
          </a:p>
          <a:p>
            <a:r>
              <a:rPr lang="en-US" i="1" dirty="0" err="1"/>
              <a:t>HeaderLength</a:t>
            </a:r>
            <a:r>
              <a:rPr lang="en-US" i="1" dirty="0"/>
              <a:t>: 20</a:t>
            </a:r>
          </a:p>
          <a:p>
            <a:r>
              <a:rPr lang="en-US" i="1" dirty="0" err="1"/>
              <a:t>TotalPacketLength</a:t>
            </a:r>
            <a:r>
              <a:rPr lang="en-US" i="1" dirty="0"/>
              <a:t>: 33</a:t>
            </a:r>
          </a:p>
          <a:p>
            <a:r>
              <a:rPr lang="en-US" i="1" dirty="0"/>
              <a:t>Length: 5</a:t>
            </a:r>
          </a:p>
          <a:p>
            <a:r>
              <a:rPr lang="en-US" i="1" dirty="0" err="1"/>
              <a:t>FragmentId</a:t>
            </a:r>
            <a:r>
              <a:rPr lang="en-US" i="1" dirty="0"/>
              <a:t>: 0</a:t>
            </a:r>
          </a:p>
          <a:p>
            <a:r>
              <a:rPr lang="en-US" i="1" dirty="0" err="1"/>
              <a:t>FragmentOffset</a:t>
            </a:r>
            <a:r>
              <a:rPr lang="en-US" i="1" dirty="0"/>
              <a:t>: 0</a:t>
            </a:r>
          </a:p>
          <a:p>
            <a:r>
              <a:rPr lang="en-US" i="1" dirty="0" err="1"/>
              <a:t>TimeToLive</a:t>
            </a:r>
            <a:r>
              <a:rPr lang="en-US" i="1" dirty="0"/>
              <a:t>: 30</a:t>
            </a:r>
          </a:p>
          <a:p>
            <a:r>
              <a:rPr lang="en-US" i="1" dirty="0"/>
              <a:t>Protocol: 17 (UDP)</a:t>
            </a:r>
          </a:p>
          <a:p>
            <a:r>
              <a:rPr lang="en-US" i="1" dirty="0"/>
              <a:t>Checksum: 0x4829</a:t>
            </a:r>
          </a:p>
          <a:p>
            <a:r>
              <a:rPr lang="en-US" i="1" dirty="0" err="1"/>
              <a:t>SrcAddress</a:t>
            </a:r>
            <a:r>
              <a:rPr lang="en-US" i="1" dirty="0"/>
              <a:t>: 192.168.145.60</a:t>
            </a:r>
          </a:p>
          <a:p>
            <a:r>
              <a:rPr lang="en-US" i="1" dirty="0" err="1"/>
              <a:t>DstAddress</a:t>
            </a:r>
            <a:r>
              <a:rPr lang="en-US" i="1" dirty="0"/>
              <a:t>: 192.168.145.36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48E049-6F53-C184-3730-A1F4A9D110E8}"/>
              </a:ext>
            </a:extLst>
          </p:cNvPr>
          <p:cNvSpPr/>
          <p:nvPr/>
        </p:nvSpPr>
        <p:spPr>
          <a:xfrm>
            <a:off x="457200" y="1981201"/>
            <a:ext cx="3012913" cy="312313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i="1" dirty="0" err="1"/>
              <a:t>DstMAC</a:t>
            </a:r>
            <a:r>
              <a:rPr lang="en-US" i="1" dirty="0"/>
              <a:t>: 00-0C-29-94-55-05</a:t>
            </a:r>
          </a:p>
          <a:p>
            <a:r>
              <a:rPr lang="en-US" i="1" dirty="0" err="1"/>
              <a:t>SrcMAC</a:t>
            </a:r>
            <a:r>
              <a:rPr lang="en-US" i="1" dirty="0"/>
              <a:t>: 00-00-92-C7-23-4F</a:t>
            </a:r>
          </a:p>
          <a:p>
            <a:r>
              <a:rPr lang="en-US" i="1" dirty="0" err="1"/>
              <a:t>EtherType</a:t>
            </a:r>
            <a:r>
              <a:rPr lang="en-US" i="1" dirty="0"/>
              <a:t>: 0x0800 (IPv4)</a:t>
            </a:r>
          </a:p>
          <a:p>
            <a:r>
              <a:rPr lang="en-US" i="1" dirty="0" err="1"/>
              <a:t>QualityOfService</a:t>
            </a:r>
            <a:r>
              <a:rPr lang="en-US" i="1" dirty="0"/>
              <a:t>: (Optional)</a:t>
            </a:r>
          </a:p>
          <a:p>
            <a:r>
              <a:rPr lang="en-US" i="1" dirty="0" err="1"/>
              <a:t>VLanId</a:t>
            </a:r>
            <a:r>
              <a:rPr lang="en-US" i="1" dirty="0"/>
              <a:t>: (Optional)</a:t>
            </a:r>
          </a:p>
          <a:p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A0343-EEEB-3810-3D0D-B498D21DAA5A}"/>
              </a:ext>
            </a:extLst>
          </p:cNvPr>
          <p:cNvSpPr txBox="1"/>
          <p:nvPr/>
        </p:nvSpPr>
        <p:spPr>
          <a:xfrm>
            <a:off x="9741548" y="1600201"/>
            <a:ext cx="130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C3BE5-9892-AF71-9FCD-889C1779EE1C}"/>
              </a:ext>
            </a:extLst>
          </p:cNvPr>
          <p:cNvSpPr txBox="1"/>
          <p:nvPr/>
        </p:nvSpPr>
        <p:spPr>
          <a:xfrm>
            <a:off x="6775774" y="1600201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UDP Header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55493-CE8D-F0B9-C370-F2E5C92BDB92}"/>
              </a:ext>
            </a:extLst>
          </p:cNvPr>
          <p:cNvSpPr txBox="1"/>
          <p:nvPr/>
        </p:nvSpPr>
        <p:spPr>
          <a:xfrm>
            <a:off x="3616487" y="1600201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 Header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B36A0-A6BD-46CA-6955-A1CD091D7A60}"/>
              </a:ext>
            </a:extLst>
          </p:cNvPr>
          <p:cNvSpPr txBox="1"/>
          <p:nvPr/>
        </p:nvSpPr>
        <p:spPr>
          <a:xfrm>
            <a:off x="457200" y="1592759"/>
            <a:ext cx="206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Ethernet Header</a:t>
            </a:r>
          </a:p>
        </p:txBody>
      </p:sp>
    </p:spTree>
    <p:extLst>
      <p:ext uri="{BB962C8B-B14F-4D97-AF65-F5344CB8AC3E}">
        <p14:creationId xmlns:p14="http://schemas.microsoft.com/office/powerpoint/2010/main" val="258180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9EEF-0C03-6786-19F4-7BAA3495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022E-01DE-1211-C70A-86617769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324600"/>
          </a:xfrm>
          <a:solidFill>
            <a:schemeClr val="tx1"/>
          </a:solidFill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port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buffer_size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buffer_size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 UDP socket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sock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(AF_INET, SOCK_DGRAM,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Set up the server address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sockaddr_in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sin_family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AF_INET;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htons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(port);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sin_addr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INADDR_ANY;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Bind the socket to the port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(sock,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server_addr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Echo any received packets back to the sender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sockaddr_in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socklen_t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client_addr_len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ssize_t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bytes_received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recvfrom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(sock, buffer,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buffer_size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client_addr_len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Send the received message back to the client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(sock, buffer,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bytes_received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sockaddr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client_addr_len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37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C6DF45-3A9B-10CA-35F5-BDBA63EBF269}"/>
              </a:ext>
            </a:extLst>
          </p:cNvPr>
          <p:cNvSpPr txBox="1"/>
          <p:nvPr/>
        </p:nvSpPr>
        <p:spPr>
          <a:xfrm>
            <a:off x="990600" y="11430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IPv4 Addressing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3B342-CFBD-D329-6D0C-4B7FEBFB4B89}"/>
              </a:ext>
            </a:extLst>
          </p:cNvPr>
          <p:cNvSpPr txBox="1"/>
          <p:nvPr/>
        </p:nvSpPr>
        <p:spPr>
          <a:xfrm>
            <a:off x="990600" y="1512332"/>
            <a:ext cx="41104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CIDR:         192.168.145.36/16</a:t>
            </a:r>
          </a:p>
          <a:p>
            <a:r>
              <a:rPr lang="en-US" dirty="0">
                <a:latin typeface="Consolas" panose="020B0609020204030204" pitchFamily="49" charset="0"/>
              </a:rPr>
              <a:t>IPv4 Address: 192.168.145.36</a:t>
            </a:r>
          </a:p>
          <a:p>
            <a:r>
              <a:rPr lang="en-US" dirty="0">
                <a:latin typeface="Consolas" panose="020B0609020204030204" pitchFamily="49" charset="0"/>
              </a:rPr>
              <a:t>Subnet Mask:  255.255.0.0</a:t>
            </a:r>
          </a:p>
          <a:p>
            <a:r>
              <a:rPr lang="en-US" dirty="0">
                <a:latin typeface="Consolas" panose="020B0609020204030204" pitchFamily="49" charset="0"/>
              </a:rPr>
              <a:t>Network ID:   192.168.0.0</a:t>
            </a:r>
          </a:p>
          <a:p>
            <a:r>
              <a:rPr lang="en-US" dirty="0">
                <a:latin typeface="Consolas" panose="020B0609020204030204" pitchFamily="49" charset="0"/>
              </a:rPr>
              <a:t>Host ID:      0.0.145.36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6DAC1-C56D-5784-0747-8BCC914B8692}"/>
              </a:ext>
            </a:extLst>
          </p:cNvPr>
          <p:cNvSpPr txBox="1"/>
          <p:nvPr/>
        </p:nvSpPr>
        <p:spPr>
          <a:xfrm>
            <a:off x="6248400" y="1145127"/>
            <a:ext cx="4800600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addresses are 32-bits, 4-bytes long.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Notation is four decimal numbers in the range of 0-255 each representing one byte of the 4-byte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CIDR notation follows the IP address with a slash and the number of 1’s in the subnet mask.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F8179-E582-7A1D-0B4E-E6607F76DA6B}"/>
              </a:ext>
            </a:extLst>
          </p:cNvPr>
          <p:cNvSpPr txBox="1"/>
          <p:nvPr/>
        </p:nvSpPr>
        <p:spPr>
          <a:xfrm>
            <a:off x="990600" y="3559961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IPv6 Addressing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E1746-56F8-5893-EC7A-1EEB01AF1FBD}"/>
              </a:ext>
            </a:extLst>
          </p:cNvPr>
          <p:cNvSpPr txBox="1"/>
          <p:nvPr/>
        </p:nvSpPr>
        <p:spPr>
          <a:xfrm>
            <a:off x="990600" y="3929293"/>
            <a:ext cx="6896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IPv6 Address: 2001:0db8:0000:0000:0000:8a2e:9370:7334</a:t>
            </a:r>
          </a:p>
          <a:p>
            <a:r>
              <a:rPr lang="en-US" dirty="0">
                <a:latin typeface="Consolas" panose="020B0609020204030204" pitchFamily="49" charset="0"/>
              </a:rPr>
              <a:t>Condensed:    2001:0db8::8a2e:9370:7334</a:t>
            </a:r>
          </a:p>
          <a:p>
            <a:r>
              <a:rPr lang="en-US" dirty="0">
                <a:latin typeface="Consolas" panose="020B0609020204030204" pitchFamily="49" charset="0"/>
              </a:rPr>
              <a:t>Network ID:   2001:0db8:0000:0000</a:t>
            </a:r>
          </a:p>
          <a:p>
            <a:r>
              <a:rPr lang="en-US" dirty="0">
                <a:latin typeface="Consolas" panose="020B0609020204030204" pitchFamily="49" charset="0"/>
              </a:rPr>
              <a:t>Host ID:      0000:8a2e:9370:7334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59617-B57B-D420-C771-3600DE27F696}"/>
              </a:ext>
            </a:extLst>
          </p:cNvPr>
          <p:cNvSpPr txBox="1"/>
          <p:nvPr/>
        </p:nvSpPr>
        <p:spPr>
          <a:xfrm>
            <a:off x="6247337" y="4529457"/>
            <a:ext cx="4724400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IPv6 addresses are 128-bits, 16-bytes long.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IPv6 Notation is eight sets of 4-digit hexadecimal numbers.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subnet mask is fixed with 64 bits in the Network ID and 64 bits in the Host ID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7CB3031-C473-414C-0066-1F777264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121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Internet Protocol (IP) Addresses are at Layer 3 in the protocol stack.</a:t>
            </a:r>
          </a:p>
        </p:txBody>
      </p:sp>
    </p:spTree>
    <p:extLst>
      <p:ext uri="{BB962C8B-B14F-4D97-AF65-F5344CB8AC3E}">
        <p14:creationId xmlns:p14="http://schemas.microsoft.com/office/powerpoint/2010/main" val="318032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8E54-56CD-E102-897B-C520159C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3E2E9B-AB00-A7F7-4D3D-8066DF6297E6}"/>
              </a:ext>
            </a:extLst>
          </p:cNvPr>
          <p:cNvSpPr txBox="1"/>
          <p:nvPr/>
        </p:nvSpPr>
        <p:spPr>
          <a:xfrm>
            <a:off x="990600" y="1512332"/>
            <a:ext cx="40541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Media Access Control (MAC) Address</a:t>
            </a:r>
            <a:br>
              <a:rPr lang="en-US" b="1" dirty="0"/>
            </a:br>
            <a:r>
              <a:rPr lang="en-US" dirty="0">
                <a:latin typeface="Consolas" panose="020B0609020204030204" pitchFamily="49" charset="0"/>
              </a:rPr>
              <a:t>00-09-8c-00-69-63</a:t>
            </a:r>
          </a:p>
          <a:p>
            <a:endParaRPr lang="en-US" b="1" dirty="0"/>
          </a:p>
          <a:p>
            <a:r>
              <a:rPr lang="en-US" b="1" dirty="0"/>
              <a:t>Broadcast Address</a:t>
            </a:r>
          </a:p>
          <a:p>
            <a:r>
              <a:rPr lang="en-US" dirty="0">
                <a:latin typeface="Consolas" panose="020B0609020204030204" pitchFamily="49" charset="0"/>
              </a:rPr>
              <a:t>ff-ff-ff-ff-ff-ff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Locally-Administered Address</a:t>
            </a:r>
          </a:p>
          <a:p>
            <a:r>
              <a:rPr lang="en-US" dirty="0">
                <a:latin typeface="Consolas" panose="020B0609020204030204" pitchFamily="49" charset="0"/>
              </a:rPr>
              <a:t>01-00-a7-d3-d9-42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BB868-72C3-0F47-00D2-F8D6FFDE0ADD}"/>
              </a:ext>
            </a:extLst>
          </p:cNvPr>
          <p:cNvSpPr txBox="1"/>
          <p:nvPr/>
        </p:nvSpPr>
        <p:spPr>
          <a:xfrm>
            <a:off x="6248400" y="1145127"/>
            <a:ext cx="480060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 addresses are 48-bits, 6-bytes long.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 Notation is six 2-digit hexadecimal numbers delimited by dashes.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A0B18-F47A-097B-B4B7-37D89AD8427F}"/>
              </a:ext>
            </a:extLst>
          </p:cNvPr>
          <p:cNvSpPr txBox="1"/>
          <p:nvPr/>
        </p:nvSpPr>
        <p:spPr>
          <a:xfrm>
            <a:off x="304800" y="4038600"/>
            <a:ext cx="47244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the least-significant bit of the first byte is a 1. Then it’s a Locally Administered Address (LAA) which is typically generated randomly while checking for collisions.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B6E71DE-9295-A151-CCEC-C7C43B46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1215"/>
          </a:xfrm>
        </p:spPr>
        <p:txBody>
          <a:bodyPr>
            <a:normAutofit/>
          </a:bodyPr>
          <a:lstStyle/>
          <a:p>
            <a:r>
              <a:rPr lang="en-US" sz="3200" dirty="0"/>
              <a:t>MAC Addresses are at Layer 2 in the protocol stack.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C0800-1E00-DC5A-6CF3-75300F9A653B}"/>
              </a:ext>
            </a:extLst>
          </p:cNvPr>
          <p:cNvSpPr txBox="1"/>
          <p:nvPr/>
        </p:nvSpPr>
        <p:spPr>
          <a:xfrm>
            <a:off x="6019800" y="2701497"/>
            <a:ext cx="4724400" cy="20313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three bytes in a Universally Administered Address (UAA) are the manufacturer’s Organizationally Unique Identifier (OUI).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manufacturer ensures the </a:t>
            </a:r>
            <a:r>
              <a:rPr lang="en-US" dirty="0" err="1"/>
              <a:t>the</a:t>
            </a:r>
            <a:r>
              <a:rPr lang="en-US" dirty="0"/>
              <a:t> remaining three bytes are unique.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81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4AA9-02DB-FB28-9032-BF8C2D40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Local-Area Network (LAN)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978B2-06A4-08FB-9994-640D1D41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Every device can communicate with every other device on the LAN.</a:t>
            </a:r>
          </a:p>
        </p:txBody>
      </p:sp>
      <p:pic>
        <p:nvPicPr>
          <p:cNvPr id="4" name="Content Placeholder 6" descr="Illustration shows a LAN with computers interconnected by a switch. Six computers are interconnected to form a LAN through a switch. The computers are connected to the switch physically by a wire.">
            <a:extLst>
              <a:ext uri="{FF2B5EF4-FFF2-40B4-BE49-F238E27FC236}">
                <a16:creationId xmlns:a16="http://schemas.microsoft.com/office/drawing/2014/main" id="{6577E2C5-E66D-9092-091B-4BF10D712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585" y="1295400"/>
            <a:ext cx="369055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3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5F07-2DFA-E117-2264-A5E5313E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Finding the MAC address of a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047A-47EE-1E63-7D78-DC5DE740E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Broadcast a message on the LAN asking which device has the specified IP address.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device with the specified IP address responds. The MAC address is a natural part of the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Devices cache the IP to MAC mapping so that they don’t have to request with every packet sent.</a:t>
            </a:r>
          </a:p>
        </p:txBody>
      </p:sp>
    </p:spTree>
    <p:extLst>
      <p:ext uri="{BB962C8B-B14F-4D97-AF65-F5344CB8AC3E}">
        <p14:creationId xmlns:p14="http://schemas.microsoft.com/office/powerpoint/2010/main" val="361833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E14A-7A23-CDA1-B88E-553F6A08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B994-5FA3-205F-B63F-029C6CB5D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arp</a:t>
            </a:r>
            <a:r>
              <a:rPr lang="en-US" dirty="0">
                <a:latin typeface="Consolas" panose="020B0609020204030204" pitchFamily="49" charset="0"/>
              </a:rPr>
              <a:t> -a</a:t>
            </a:r>
          </a:p>
        </p:txBody>
      </p:sp>
    </p:spTree>
    <p:extLst>
      <p:ext uri="{BB962C8B-B14F-4D97-AF65-F5344CB8AC3E}">
        <p14:creationId xmlns:p14="http://schemas.microsoft.com/office/powerpoint/2010/main" val="168260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1A7A1D-FA3E-8A55-4C86-CE28A0E6370C}"/>
              </a:ext>
            </a:extLst>
          </p:cNvPr>
          <p:cNvSpPr txBox="1"/>
          <p:nvPr/>
        </p:nvSpPr>
        <p:spPr>
          <a:xfrm>
            <a:off x="1219200" y="2438401"/>
            <a:ext cx="42370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Sender Address:   192.168.145.27</a:t>
            </a:r>
          </a:p>
          <a:p>
            <a:r>
              <a:rPr lang="en-US" dirty="0">
                <a:latin typeface="Consolas" panose="020B0609020204030204" pitchFamily="49" charset="0"/>
              </a:rPr>
              <a:t>Receiver Address: 192.168.145.36</a:t>
            </a:r>
          </a:p>
          <a:p>
            <a:r>
              <a:rPr lang="en-US" dirty="0">
                <a:latin typeface="Consolas" panose="020B0609020204030204" pitchFamily="49" charset="0"/>
              </a:rPr>
              <a:t>Subnet Mask:      255.255.0.0</a:t>
            </a:r>
          </a:p>
          <a:p>
            <a:r>
              <a:rPr lang="en-US" dirty="0">
                <a:latin typeface="Consolas" panose="020B0609020204030204" pitchFamily="49" charset="0"/>
              </a:rPr>
              <a:t>Sender NetID:     192.168.0.0</a:t>
            </a:r>
          </a:p>
          <a:p>
            <a:r>
              <a:rPr lang="en-US" dirty="0">
                <a:latin typeface="Consolas" panose="020B0609020204030204" pitchFamily="49" charset="0"/>
              </a:rPr>
              <a:t>Receiver NetID:   192.168.0.0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9FD8C-FF34-D7EB-C9CE-4B3F54C021AD}"/>
              </a:ext>
            </a:extLst>
          </p:cNvPr>
          <p:cNvSpPr txBox="1"/>
          <p:nvPr/>
        </p:nvSpPr>
        <p:spPr>
          <a:xfrm>
            <a:off x="6934200" y="2438400"/>
            <a:ext cx="42370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Sender Address:   192.168.145.27</a:t>
            </a:r>
          </a:p>
          <a:p>
            <a:r>
              <a:rPr lang="en-US" dirty="0">
                <a:latin typeface="Consolas" panose="020B0609020204030204" pitchFamily="49" charset="0"/>
              </a:rPr>
              <a:t>Receiver Address: 228.43.27.104</a:t>
            </a:r>
          </a:p>
          <a:p>
            <a:r>
              <a:rPr lang="en-US" dirty="0">
                <a:latin typeface="Consolas" panose="020B0609020204030204" pitchFamily="49" charset="0"/>
              </a:rPr>
              <a:t>Subnet Mask:      255.255.0.0</a:t>
            </a:r>
          </a:p>
          <a:p>
            <a:r>
              <a:rPr lang="en-US" dirty="0">
                <a:latin typeface="Consolas" panose="020B0609020204030204" pitchFamily="49" charset="0"/>
              </a:rPr>
              <a:t>Sender NetID:     192.168.0.0</a:t>
            </a:r>
          </a:p>
          <a:p>
            <a:r>
              <a:rPr lang="en-US">
                <a:latin typeface="Consolas" panose="020B0609020204030204" pitchFamily="49" charset="0"/>
              </a:rPr>
              <a:t>Receiver NetID:   </a:t>
            </a:r>
            <a:r>
              <a:rPr lang="en-US" dirty="0">
                <a:latin typeface="Consolas" panose="020B0609020204030204" pitchFamily="49" charset="0"/>
              </a:rPr>
              <a:t>228.43.0.0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D39DBB-9CC9-0528-0EC1-87EA65FE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 direct or through a router?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92D1E-1DEA-3868-B222-44D8490F6EDA}"/>
              </a:ext>
            </a:extLst>
          </p:cNvPr>
          <p:cNvSpPr txBox="1"/>
          <p:nvPr/>
        </p:nvSpPr>
        <p:spPr>
          <a:xfrm>
            <a:off x="1600200" y="3962400"/>
            <a:ext cx="3181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Send directly to the receiver.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6836D-C545-5727-70F9-4D1637BB0D9E}"/>
              </a:ext>
            </a:extLst>
          </p:cNvPr>
          <p:cNvSpPr txBox="1"/>
          <p:nvPr/>
        </p:nvSpPr>
        <p:spPr>
          <a:xfrm>
            <a:off x="7403205" y="4038600"/>
            <a:ext cx="3299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Send to the “default gateway.”</a:t>
            </a:r>
          </a:p>
        </p:txBody>
      </p:sp>
    </p:spTree>
    <p:extLst>
      <p:ext uri="{BB962C8B-B14F-4D97-AF65-F5344CB8AC3E}">
        <p14:creationId xmlns:p14="http://schemas.microsoft.com/office/powerpoint/2010/main" val="1416554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92D2-19A4-2D36-B8AD-D5C48061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</a:t>
            </a:r>
          </a:p>
        </p:txBody>
      </p:sp>
      <p:pic>
        <p:nvPicPr>
          <p:cNvPr id="3" name="Content Placeholder 5" descr="Illustration shows Two LANs connected by a Router to form an internetwork, where three systems (representing multiple terminals) in LAN 1 are connected to a switch via physical cables and in turn connected to a router. Similarly, In LAN 2, Two sets of multiple computers are connected to switches and the switches are interconnected. The switches in turn is connect to a router, interconnecting LAN 1 and 2.">
            <a:extLst>
              <a:ext uri="{FF2B5EF4-FFF2-40B4-BE49-F238E27FC236}">
                <a16:creationId xmlns:a16="http://schemas.microsoft.com/office/drawing/2014/main" id="{B3B8BFAB-F4C1-8FAD-0A8A-08C7F1B5E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52600"/>
            <a:ext cx="4977998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712456-9527-42F0-310B-2115EB1F8F9E}"/>
              </a:ext>
            </a:extLst>
          </p:cNvPr>
          <p:cNvSpPr txBox="1"/>
          <p:nvPr/>
        </p:nvSpPr>
        <p:spPr>
          <a:xfrm>
            <a:off x="6477000" y="1152435"/>
            <a:ext cx="4977998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home router connects your home network to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has one simple rule. If it’s not on the LAN then send it to the WAN (Wide-Area Network).</a:t>
            </a:r>
          </a:p>
        </p:txBody>
      </p:sp>
    </p:spTree>
    <p:extLst>
      <p:ext uri="{BB962C8B-B14F-4D97-AF65-F5344CB8AC3E}">
        <p14:creationId xmlns:p14="http://schemas.microsoft.com/office/powerpoint/2010/main" val="949894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65949D-6436-87A7-5ED9-8D6031108F0C}"/>
              </a:ext>
            </a:extLst>
          </p:cNvPr>
          <p:cNvCxnSpPr>
            <a:cxnSpLocks/>
          </p:cNvCxnSpPr>
          <p:nvPr/>
        </p:nvCxnSpPr>
        <p:spPr>
          <a:xfrm flipV="1">
            <a:off x="5180615" y="3692601"/>
            <a:ext cx="1889306" cy="365031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89E801-3549-4487-A898-C068401E843F}"/>
              </a:ext>
            </a:extLst>
          </p:cNvPr>
          <p:cNvCxnSpPr>
            <a:cxnSpLocks/>
          </p:cNvCxnSpPr>
          <p:nvPr/>
        </p:nvCxnSpPr>
        <p:spPr>
          <a:xfrm>
            <a:off x="2895600" y="2692199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928165-C469-42D4-9BD2-EAB0C3018A73}"/>
              </a:ext>
            </a:extLst>
          </p:cNvPr>
          <p:cNvCxnSpPr>
            <a:cxnSpLocks/>
          </p:cNvCxnSpPr>
          <p:nvPr/>
        </p:nvCxnSpPr>
        <p:spPr>
          <a:xfrm>
            <a:off x="4419601" y="2708220"/>
            <a:ext cx="797111" cy="3132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F5FBA7-26EB-4A82-B646-7BB936B8EA80}"/>
              </a:ext>
            </a:extLst>
          </p:cNvPr>
          <p:cNvCxnSpPr>
            <a:cxnSpLocks/>
          </p:cNvCxnSpPr>
          <p:nvPr/>
        </p:nvCxnSpPr>
        <p:spPr>
          <a:xfrm>
            <a:off x="8455216" y="4791942"/>
            <a:ext cx="906127" cy="3134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F9BF3C-44C3-40BB-BAD5-F30713CBF8DC}"/>
              </a:ext>
            </a:extLst>
          </p:cNvPr>
          <p:cNvCxnSpPr>
            <a:cxnSpLocks/>
          </p:cNvCxnSpPr>
          <p:nvPr/>
        </p:nvCxnSpPr>
        <p:spPr>
          <a:xfrm>
            <a:off x="5955158" y="3123735"/>
            <a:ext cx="1208153" cy="575619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9D8784F-C6B6-4206-8308-08AD577604A7}"/>
              </a:ext>
            </a:extLst>
          </p:cNvPr>
          <p:cNvCxnSpPr>
            <a:cxnSpLocks/>
          </p:cNvCxnSpPr>
          <p:nvPr/>
        </p:nvCxnSpPr>
        <p:spPr>
          <a:xfrm>
            <a:off x="5216712" y="4128237"/>
            <a:ext cx="1208153" cy="575619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429EDA0-77D9-468D-BDF9-9D852804565A}"/>
              </a:ext>
            </a:extLst>
          </p:cNvPr>
          <p:cNvCxnSpPr>
            <a:cxnSpLocks/>
          </p:cNvCxnSpPr>
          <p:nvPr/>
        </p:nvCxnSpPr>
        <p:spPr>
          <a:xfrm flipV="1">
            <a:off x="5151579" y="3285095"/>
            <a:ext cx="402091" cy="679058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3BC81AD-0FA8-4D0D-A88C-9ACEAE47A9D9}"/>
              </a:ext>
            </a:extLst>
          </p:cNvPr>
          <p:cNvCxnSpPr>
            <a:cxnSpLocks/>
          </p:cNvCxnSpPr>
          <p:nvPr/>
        </p:nvCxnSpPr>
        <p:spPr>
          <a:xfrm>
            <a:off x="7172074" y="3804154"/>
            <a:ext cx="1199390" cy="767847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7143C6-511B-4B82-9505-47E3B1DF84B5}"/>
              </a:ext>
            </a:extLst>
          </p:cNvPr>
          <p:cNvCxnSpPr>
            <a:cxnSpLocks/>
          </p:cNvCxnSpPr>
          <p:nvPr/>
        </p:nvCxnSpPr>
        <p:spPr>
          <a:xfrm flipV="1">
            <a:off x="6541261" y="4778180"/>
            <a:ext cx="1659321" cy="13763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E454E5E3-98A4-4992-B2CA-83AFB44D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90097"/>
          </a:xfrm>
        </p:spPr>
        <p:txBody>
          <a:bodyPr>
            <a:normAutofit/>
          </a:bodyPr>
          <a:lstStyle/>
          <a:p>
            <a:r>
              <a:rPr lang="en-US" dirty="0"/>
              <a:t>Internet Routers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6D79ED-E56A-4EC4-9F36-A2E34C481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907850"/>
            <a:ext cx="1563798" cy="156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D903A-A7E1-41E8-805D-4D90C614F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07798"/>
            <a:ext cx="1378864" cy="11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CB67F9-D691-40A7-AE41-5CEFDC404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5181601" y="2818470"/>
            <a:ext cx="1031409" cy="61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E2F473-378F-46CA-B991-2B36F5940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725858"/>
            <a:ext cx="1257143" cy="125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3A9A8E-6B4C-4FB7-AD61-FA38CDB23B37}"/>
              </a:ext>
            </a:extLst>
          </p:cNvPr>
          <p:cNvSpPr txBox="1"/>
          <p:nvPr/>
        </p:nvSpPr>
        <p:spPr>
          <a:xfrm>
            <a:off x="1828800" y="34290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46C69C-AB95-4F2C-A762-1B3095286FD1}"/>
              </a:ext>
            </a:extLst>
          </p:cNvPr>
          <p:cNvSpPr txBox="1"/>
          <p:nvPr/>
        </p:nvSpPr>
        <p:spPr>
          <a:xfrm>
            <a:off x="3368139" y="3018170"/>
            <a:ext cx="137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Wireless</a:t>
            </a:r>
            <a:br>
              <a:rPr lang="en-US" dirty="0"/>
            </a:br>
            <a:r>
              <a:rPr lang="en-US" dirty="0"/>
              <a:t>Router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B63FC5-CB15-40CC-8794-54CAA803F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6647607" y="3394089"/>
            <a:ext cx="1031409" cy="61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4086FB-0DA3-46A4-9A7E-A7E5876141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4636477" y="3805516"/>
            <a:ext cx="1031409" cy="61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A92C3D-3E69-4C40-A5D6-814CBE24D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6008413" y="4416047"/>
            <a:ext cx="1031409" cy="61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0EBA61-9096-4677-A5EB-B863A3D1B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1" t="28931" r="8368" b="21666"/>
          <a:stretch/>
        </p:blipFill>
        <p:spPr bwMode="auto">
          <a:xfrm>
            <a:off x="7684878" y="4416047"/>
            <a:ext cx="1031409" cy="61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A438AE0-6FDE-4C13-8C1F-57910F85131B}"/>
              </a:ext>
            </a:extLst>
          </p:cNvPr>
          <p:cNvSpPr txBox="1"/>
          <p:nvPr/>
        </p:nvSpPr>
        <p:spPr>
          <a:xfrm>
            <a:off x="4834145" y="5138264"/>
            <a:ext cx="1813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 Routers and Links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54D202-B2B0-4E12-AF94-DDB4492699DC}"/>
              </a:ext>
            </a:extLst>
          </p:cNvPr>
          <p:cNvSpPr txBox="1"/>
          <p:nvPr/>
        </p:nvSpPr>
        <p:spPr>
          <a:xfrm>
            <a:off x="8931667" y="6308209"/>
            <a:ext cx="137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D9D78-E152-AF34-2F60-3FF16BC63D57}"/>
              </a:ext>
            </a:extLst>
          </p:cNvPr>
          <p:cNvSpPr txBox="1"/>
          <p:nvPr/>
        </p:nvSpPr>
        <p:spPr>
          <a:xfrm>
            <a:off x="6781800" y="853311"/>
            <a:ext cx="4977998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Internet core routers must decide on the best way to route each packet. They continuously exchange information because “best” is a variable condition.</a:t>
            </a:r>
          </a:p>
        </p:txBody>
      </p:sp>
    </p:spTree>
    <p:extLst>
      <p:ext uri="{BB962C8B-B14F-4D97-AF65-F5344CB8AC3E}">
        <p14:creationId xmlns:p14="http://schemas.microsoft.com/office/powerpoint/2010/main" val="328330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F4FB-97D2-6089-A03A-7F0CE368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FA98F-84AC-0031-4FBC-D5758E850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tracert</a:t>
            </a:r>
            <a:r>
              <a:rPr lang="en-US" dirty="0">
                <a:latin typeface="Consolas" panose="020B0609020204030204" pitchFamily="49" charset="0"/>
              </a:rPr>
              <a:t> www.byu.edu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tracert</a:t>
            </a:r>
            <a:r>
              <a:rPr lang="en-US" dirty="0">
                <a:latin typeface="Consolas" panose="020B0609020204030204" pitchFamily="49" charset="0"/>
              </a:rPr>
              <a:t> www.uq.edu.au</a:t>
            </a:r>
          </a:p>
        </p:txBody>
      </p:sp>
    </p:spTree>
    <p:extLst>
      <p:ext uri="{BB962C8B-B14F-4D97-AF65-F5344CB8AC3E}">
        <p14:creationId xmlns:p14="http://schemas.microsoft.com/office/powerpoint/2010/main" val="2160261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45A3-8158-FDB6-45F0-C3ADA2B9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Owns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CDE6-AA55-9CD8-A443-0F0BB8DA1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how can warring countries still both be on the Internet?</a:t>
            </a:r>
          </a:p>
          <a:p>
            <a:r>
              <a:rPr lang="en-US" dirty="0"/>
              <a:t>And how does my ISP give me a unique IP address?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5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www-module.cs.york.ac.uk/wed/notes/Knuckles/fig1.0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33400"/>
            <a:ext cx="9069388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phere with lines and dots&#10;&#10;Description automatically generated">
            <a:extLst>
              <a:ext uri="{FF2B5EF4-FFF2-40B4-BE49-F238E27FC236}">
                <a16:creationId xmlns:a16="http://schemas.microsoft.com/office/drawing/2014/main" id="{06976A0F-4E32-2993-22FD-04E41B021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8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52D87B-4B43-ABDD-4471-582CDA05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3638"/>
          </a:xfrm>
        </p:spPr>
        <p:txBody>
          <a:bodyPr>
            <a:normAutofit fontScale="90000"/>
          </a:bodyPr>
          <a:lstStyle/>
          <a:p>
            <a:r>
              <a:rPr lang="en-US" dirty="0"/>
              <a:t>Tier 1 Networks (Backbones)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C6AB3-AC58-053E-5193-DC53B75D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2590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Internet Protocol (IP) network that can reach every other Tier 1 network without paying any fees for the exchange of traffic.</a:t>
            </a:r>
            <a:br>
              <a:rPr lang="en-US" dirty="0"/>
            </a:br>
            <a:r>
              <a:rPr lang="en-US" sz="1800" dirty="0"/>
              <a:t>(</a:t>
            </a:r>
            <a:r>
              <a:rPr lang="en-US" sz="1800" dirty="0">
                <a:hlinkClick r:id="rId4"/>
              </a:rPr>
              <a:t>https://en.wikipedia.org/wiki/Tier_1_network</a:t>
            </a:r>
            <a:r>
              <a:rPr lang="en-US" sz="1800" dirty="0"/>
              <a:t>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 are 16 of them: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FC619-0693-4DFE-9848-EB387825FC1D}"/>
              </a:ext>
            </a:extLst>
          </p:cNvPr>
          <p:cNvSpPr txBox="1"/>
          <p:nvPr/>
        </p:nvSpPr>
        <p:spPr>
          <a:xfrm>
            <a:off x="2095893" y="3634581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AT&amp;T (USA)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Comcast (USA)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Deutsche Telekom (Germany)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GTT Communications (USA)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Liberty Global (Netherlands)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Lumen (USA)</a:t>
            </a:r>
            <a:br>
              <a:rPr lang="en-US" sz="1600" dirty="0"/>
            </a:br>
            <a:r>
              <a:rPr lang="en-US" sz="1600" dirty="0"/>
              <a:t>(Formerly CenturyLink, Level3)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NTT Communications (Japan)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Orange (France)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0C765-D33A-3A39-5850-CA62D2492D76}"/>
              </a:ext>
            </a:extLst>
          </p:cNvPr>
          <p:cNvSpPr txBox="1"/>
          <p:nvPr/>
        </p:nvSpPr>
        <p:spPr>
          <a:xfrm>
            <a:off x="5943600" y="3609444"/>
            <a:ext cx="3810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PCCW Global (Hong Kong)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T-Mobile US (USA) (Formerly Sprint)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Tata (India)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Telecom Italia Sparkle (Italy)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Arelion</a:t>
            </a:r>
            <a:r>
              <a:rPr lang="en-US" sz="1600" dirty="0"/>
              <a:t> (Sweden) (Formerly Telia)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Telxius</a:t>
            </a:r>
            <a:r>
              <a:rPr lang="en-US" sz="1600" dirty="0"/>
              <a:t> (Spain)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Verizon (USA) (Formerly UUNET)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Zayo (USA) (Formerly </a:t>
            </a:r>
            <a:r>
              <a:rPr lang="en-US" sz="1600" dirty="0" err="1"/>
              <a:t>AboveNet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0031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87C7-FA65-CABB-6E8F-82284195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001" y="665506"/>
            <a:ext cx="7924800" cy="700088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Assigned Numbers 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6D01-A437-7653-30E9-7E762905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5114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“The global coordination of the DNS Root, IP addressing and other internet protocol resources is performed as the Internet Assigned Numbers Authority (IANA) functions.”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Manages the DNS root zone assignments (Top-Level Domains)</a:t>
            </a:r>
          </a:p>
          <a:p>
            <a:r>
              <a:rPr lang="en-US" dirty="0"/>
              <a:t>Manages the Central IP Address Pool and assigns ranges to internet service providers.</a:t>
            </a:r>
          </a:p>
          <a:p>
            <a:r>
              <a:rPr lang="en-US" dirty="0"/>
              <a:t>A function of ICANN: The Internet Corporation for Assigned Names and Numbers. A California-based not-for-profit that is governed by an “international multistakeholder group.”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http://www.iana.org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DAD6123-600E-0A6B-FE94-97612E5F2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28600" y="-76200"/>
            <a:ext cx="42862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90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6F22-7327-B4AD-DA0F-544228F5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5715000" cy="2049461"/>
          </a:xfrm>
        </p:spPr>
        <p:txBody>
          <a:bodyPr>
            <a:normAutofit/>
          </a:bodyPr>
          <a:lstStyle/>
          <a:p>
            <a:r>
              <a:rPr lang="en-US" dirty="0"/>
              <a:t>IANA Allocates IP Addresses to Five</a:t>
            </a:r>
            <a:br>
              <a:rPr lang="en-US" dirty="0"/>
            </a:br>
            <a:r>
              <a:rPr lang="en-US" dirty="0"/>
              <a:t>Regional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663F4-A8A3-142D-2B95-D8958327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49462"/>
            <a:ext cx="11506200" cy="480853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African Network Information Centre</a:t>
            </a:r>
            <a:br>
              <a:rPr lang="en-US" sz="2400" dirty="0"/>
            </a:br>
            <a:r>
              <a:rPr lang="en-US" sz="2400" dirty="0"/>
              <a:t>(AFRINIC) - Ebene, Mauritius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All of Africa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American Registry for Internet Numbers (ARIN) - Chantilly, Virginia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Antarctica, Canda, U.S., and some Caribbean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Asia Pacific Network Information </a:t>
            </a:r>
            <a:r>
              <a:rPr lang="en-US" sz="2400" dirty="0" err="1"/>
              <a:t>centre</a:t>
            </a:r>
            <a:r>
              <a:rPr lang="en-US" sz="2400" dirty="0"/>
              <a:t> (APNIC) – Brisbane, Australia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East, South, and Southeast Asia, and Oceania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Latin America and Caribbean Network </a:t>
            </a:r>
            <a:r>
              <a:rPr lang="en-US" sz="2400" dirty="0" err="1"/>
              <a:t>Informaiton</a:t>
            </a:r>
            <a:r>
              <a:rPr lang="en-US" sz="2400" dirty="0"/>
              <a:t> Centre (LACNIC) – Montevideo, Uruguay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Latin America and some Caribbean</a:t>
            </a:r>
          </a:p>
          <a:p>
            <a:pPr>
              <a:lnSpc>
                <a:spcPct val="110000"/>
              </a:lnSpc>
            </a:pPr>
            <a:r>
              <a:rPr lang="fr-FR" sz="2400" dirty="0"/>
              <a:t>Réseaux IP Européens Network Coordination Centre (RIPE NCC) – Amsterdam, </a:t>
            </a:r>
            <a:r>
              <a:rPr lang="fr-FR" sz="2400" dirty="0" err="1"/>
              <a:t>Netherlands</a:t>
            </a:r>
            <a:endParaRPr lang="fr-FR" sz="2400" dirty="0"/>
          </a:p>
          <a:p>
            <a:pPr lvl="1">
              <a:lnSpc>
                <a:spcPct val="110000"/>
              </a:lnSpc>
            </a:pPr>
            <a:r>
              <a:rPr lang="fr-FR" sz="2200" dirty="0"/>
              <a:t>Central and West Asia, Europe, and </a:t>
            </a:r>
            <a:r>
              <a:rPr lang="fr-FR" sz="2200" dirty="0" err="1"/>
              <a:t>Russia</a:t>
            </a:r>
            <a:endParaRPr lang="en-US" sz="22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1B1B0E1-42AA-1C2C-D66C-85EA08F1B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181" y="0"/>
            <a:ext cx="6705600" cy="296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05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1692</Words>
  <Application>Microsoft Office PowerPoint</Application>
  <PresentationFormat>Widescreen</PresentationFormat>
  <Paragraphs>235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Office Theme</vt:lpstr>
      <vt:lpstr>Network Fundamentals</vt:lpstr>
      <vt:lpstr>OSI</vt:lpstr>
      <vt:lpstr>PowerPoint Presentation</vt:lpstr>
      <vt:lpstr>Layer 5: Application</vt:lpstr>
      <vt:lpstr>Layer 4: Transport (UDP)</vt:lpstr>
      <vt:lpstr>Layer 3: Internetwork (IP)</vt:lpstr>
      <vt:lpstr>Layer 2: Link (Ethernet)</vt:lpstr>
      <vt:lpstr>PowerPoint Presentation</vt:lpstr>
      <vt:lpstr>Internet Protocol (IP) Addresses are at Layer 3 in the protocol stack.</vt:lpstr>
      <vt:lpstr>MAC Addresses are at Layer 2 in the protocol stack.</vt:lpstr>
      <vt:lpstr>Local-Area Network (LAN)</vt:lpstr>
      <vt:lpstr>ARP: Finding the MAC address of a device</vt:lpstr>
      <vt:lpstr>Demo</vt:lpstr>
      <vt:lpstr>Send direct or through a router?</vt:lpstr>
      <vt:lpstr>Router</vt:lpstr>
      <vt:lpstr>Internet Routers</vt:lpstr>
      <vt:lpstr>Demo</vt:lpstr>
      <vt:lpstr>Who Owns the Internet?</vt:lpstr>
      <vt:lpstr>PowerPoint Presentation</vt:lpstr>
      <vt:lpstr>Tier 1 Networks (Backbones)</vt:lpstr>
      <vt:lpstr>Internet Assigned Numbers Authority</vt:lpstr>
      <vt:lpstr>IANA Allocates IP Addresses to Five Regional Registries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2024-11-10T22:57:05Z</dcterms:created>
  <dcterms:modified xsi:type="dcterms:W3CDTF">2024-11-17T03:48:13Z</dcterms:modified>
</cp:coreProperties>
</file>