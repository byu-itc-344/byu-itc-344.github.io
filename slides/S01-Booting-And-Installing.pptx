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p:cViewPr varScale="1">
        <p:scale>
          <a:sx n="102" d="100"/>
          <a:sy n="102" d="100"/>
        </p:scale>
        <p:origin x="65" y="1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73A99F3B-820C-4CBE-8675-07062607B0BE}"/>
    <pc:docChg chg="custSel modSld">
      <pc:chgData name="Brandt Redd" userId="be8ed540b98adac0" providerId="LiveId" clId="{73A99F3B-820C-4CBE-8675-07062607B0BE}" dt="2024-10-02T04:13:15.336" v="73" actId="14100"/>
      <pc:docMkLst>
        <pc:docMk/>
      </pc:docMkLst>
      <pc:sldChg chg="modSp mod">
        <pc:chgData name="Brandt Redd" userId="be8ed540b98adac0" providerId="LiveId" clId="{73A99F3B-820C-4CBE-8675-07062607B0BE}" dt="2024-10-02T04:13:15.336" v="73" actId="14100"/>
        <pc:sldMkLst>
          <pc:docMk/>
          <pc:sldMk cId="3209511285" sldId="258"/>
        </pc:sldMkLst>
        <pc:spChg chg="mod">
          <ac:chgData name="Brandt Redd" userId="be8ed540b98adac0" providerId="LiveId" clId="{73A99F3B-820C-4CBE-8675-07062607B0BE}" dt="2024-10-02T04:13:15.336" v="73" actId="14100"/>
          <ac:spMkLst>
            <pc:docMk/>
            <pc:sldMk cId="3209511285" sldId="258"/>
            <ac:spMk id="3" creationId="{16C4BE42-983D-8199-7A9C-2DBA38C5C40A}"/>
          </ac:spMkLst>
        </pc:spChg>
      </pc:sldChg>
    </pc:docChg>
  </pc:docChgLst>
  <pc:docChgLst>
    <pc:chgData name="Brandt Redd" userId="be8ed540b98adac0" providerId="LiveId" clId="{1108248E-1DA3-44F7-8D7F-37DEB53F0D30}"/>
    <pc:docChg chg="modSld">
      <pc:chgData name="Brandt Redd" userId="be8ed540b98adac0" providerId="LiveId" clId="{1108248E-1DA3-44F7-8D7F-37DEB53F0D30}" dt="2024-09-09T20:40:56.811" v="0" actId="20577"/>
      <pc:docMkLst>
        <pc:docMk/>
      </pc:docMkLst>
      <pc:sldChg chg="modSp mod">
        <pc:chgData name="Brandt Redd" userId="be8ed540b98adac0" providerId="LiveId" clId="{1108248E-1DA3-44F7-8D7F-37DEB53F0D30}" dt="2024-09-09T20:40:56.811" v="0" actId="20577"/>
        <pc:sldMkLst>
          <pc:docMk/>
          <pc:sldMk cId="3209511285" sldId="258"/>
        </pc:sldMkLst>
        <pc:spChg chg="mod">
          <ac:chgData name="Brandt Redd" userId="be8ed540b98adac0" providerId="LiveId" clId="{1108248E-1DA3-44F7-8D7F-37DEB53F0D30}" dt="2024-09-09T20:40:56.811" v="0" actId="20577"/>
          <ac:spMkLst>
            <pc:docMk/>
            <pc:sldMk cId="3209511285" sldId="258"/>
            <ac:spMk id="3" creationId="{16C4BE42-983D-8199-7A9C-2DBA38C5C4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47E23-5B16-4BEB-BB64-18AB61120A99}" type="datetimeFigureOut">
              <a:rPr lang="en-US" smtClean="0"/>
              <a:t>2024-10-01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0EA97D-5CD6-45C5-90A1-F4633CC86551}" type="slidenum">
              <a:rPr lang="en-US" smtClean="0"/>
              <a:t>‹#›</a:t>
            </a:fld>
            <a:endParaRPr lang="en-US"/>
          </a:p>
        </p:txBody>
      </p:sp>
    </p:spTree>
    <p:extLst>
      <p:ext uri="{BB962C8B-B14F-4D97-AF65-F5344CB8AC3E}">
        <p14:creationId xmlns:p14="http://schemas.microsoft.com/office/powerpoint/2010/main" val="135349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stands for “International Standards Organization”. They define thousands of standards. ISO 9660 is the standard for file system used on CD ROM disks and the .iso extension became associated with a disk image despite there being hundreds of other ISO standards that also apply to your computer. In fact, contemporary disks usually use the UDF file system rather than ISO 9660.</a:t>
            </a:r>
          </a:p>
        </p:txBody>
      </p:sp>
      <p:sp>
        <p:nvSpPr>
          <p:cNvPr id="4" name="Slide Number Placeholder 3"/>
          <p:cNvSpPr>
            <a:spLocks noGrp="1"/>
          </p:cNvSpPr>
          <p:nvPr>
            <p:ph type="sldNum" sz="quarter" idx="5"/>
          </p:nvPr>
        </p:nvSpPr>
        <p:spPr/>
        <p:txBody>
          <a:bodyPr/>
          <a:lstStyle/>
          <a:p>
            <a:fld id="{5F0EA97D-5CD6-45C5-90A1-F4633CC86551}" type="slidenum">
              <a:rPr lang="en-US" smtClean="0"/>
              <a:t>5</a:t>
            </a:fld>
            <a:endParaRPr lang="en-US"/>
          </a:p>
        </p:txBody>
      </p:sp>
    </p:spTree>
    <p:extLst>
      <p:ext uri="{BB962C8B-B14F-4D97-AF65-F5344CB8AC3E}">
        <p14:creationId xmlns:p14="http://schemas.microsoft.com/office/powerpoint/2010/main" val="28142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3B2B-7B88-941D-98DF-AD75F78888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721E-E8C6-D8E9-7902-5AF158C25D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013F07-FE27-F4D6-B88A-A9C5A3F2AE88}"/>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350AF2A9-2D0F-A45B-1163-08B5C4696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23776-0EA7-4E56-F4A7-430F04004FFB}"/>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2301214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C23C-BE87-D179-516B-5438D9BC63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65329D-11E7-BB41-C99A-7C356C131A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7DAC8-CF50-2B19-02FA-017CE4EE725C}"/>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2BDE9140-631D-B0A7-F5BE-E9C77EE49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823D2-C922-18C4-09F2-FE4582B5A688}"/>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34201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21E9D-8382-E127-C6B7-F603391E7C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F30A86-10F3-F740-09A0-E26367841A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4D1EA6-AB9A-7C0B-3F1F-51CBAE3C8E77}"/>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2A602411-3782-BD08-D7B2-053CD452B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B258C9-0E40-D8A9-4E5E-AFCB1FB133D1}"/>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154901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14701-B91C-C06C-892E-8B6B0690B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6AE874-0098-137B-E3D7-562F74EDF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D33A9-374E-3552-95FE-808FBC0C1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2A78E6-AC79-25C8-7E1B-339082227AD0}"/>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6" name="Footer Placeholder 5">
            <a:extLst>
              <a:ext uri="{FF2B5EF4-FFF2-40B4-BE49-F238E27FC236}">
                <a16:creationId xmlns:a16="http://schemas.microsoft.com/office/drawing/2014/main" id="{A383743B-D65F-365E-C454-652379B64B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88F038-8C53-1959-B652-FC3089894312}"/>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785352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90D98-DDE5-2069-24A3-52CD77A817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5FF3EE-905D-0D62-5098-6C99496652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EBC501-79E4-86CD-47C7-D4559D4FD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8F05CD-F04B-1644-7A5F-3FF1AFEC59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1324-D784-B02F-924B-1EB9714CAD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9F6A8C-F832-3A73-8E7F-39662D7D3FDA}"/>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8" name="Footer Placeholder 7">
            <a:extLst>
              <a:ext uri="{FF2B5EF4-FFF2-40B4-BE49-F238E27FC236}">
                <a16:creationId xmlns:a16="http://schemas.microsoft.com/office/drawing/2014/main" id="{84F070D2-02FC-C96F-CE17-7DBBF37FD1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08F669-9937-851B-9E49-D223EEA7CE15}"/>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721402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93D05-57C0-7413-C948-9F21D857A2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CFF1AA-5E3A-505F-ADE8-068F3921AF48}"/>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4" name="Footer Placeholder 3">
            <a:extLst>
              <a:ext uri="{FF2B5EF4-FFF2-40B4-BE49-F238E27FC236}">
                <a16:creationId xmlns:a16="http://schemas.microsoft.com/office/drawing/2014/main" id="{2C2DD0BF-9D30-3953-219D-3EAA5A9EA9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D1D4EE-1677-1132-D59C-85C19090D26F}"/>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126093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C9EAD-0B83-5BF2-D590-243D4AD2574F}"/>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3" name="Footer Placeholder 2">
            <a:extLst>
              <a:ext uri="{FF2B5EF4-FFF2-40B4-BE49-F238E27FC236}">
                <a16:creationId xmlns:a16="http://schemas.microsoft.com/office/drawing/2014/main" id="{448830E9-871E-CA5B-0C1F-BC29798206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D37F69-2C9E-CEE2-2894-2B9D6EFCCCAC}"/>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68779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8608-1DD3-AD1A-226F-263255DF35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DD5731-1D88-91CC-369B-9DF719C58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F3B67E-4B05-1A49-FB80-7BCB77B0A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D50BD-3DAD-7206-B8F2-6D5ED064B19B}"/>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6" name="Footer Placeholder 5">
            <a:extLst>
              <a:ext uri="{FF2B5EF4-FFF2-40B4-BE49-F238E27FC236}">
                <a16:creationId xmlns:a16="http://schemas.microsoft.com/office/drawing/2014/main" id="{02041198-244B-A0ED-356E-308FE89D96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4A65-EFB8-AAD2-59A7-1902C4F978FD}"/>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2326115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1F54-C63C-78CB-AD65-EDA7900DB4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142284-830E-A249-CE67-E10B987485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CAA701-B8C4-90E7-B9CC-001BA1F6F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6492AD-D53D-9D8E-9B17-6CE9B65EC229}"/>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6" name="Footer Placeholder 5">
            <a:extLst>
              <a:ext uri="{FF2B5EF4-FFF2-40B4-BE49-F238E27FC236}">
                <a16:creationId xmlns:a16="http://schemas.microsoft.com/office/drawing/2014/main" id="{B2CED89B-919F-5DFE-3C95-8EEDC998B3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6FC36-9115-D81B-D467-0146FFC35F62}"/>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223821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E42B5-F3AF-3518-5A59-9B3B6399E3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8F9AF-DC65-D626-2006-36D09FA75B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8C132-83F4-D4C7-2902-8A0E954D79C2}"/>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AC823B67-83ED-0988-97EF-FE493CD03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2CEC8-F7DE-7A7F-5805-3B7C552F58D1}"/>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203866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696926-385A-FF60-6830-1A0349563A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F3A814-2F05-1AB1-7DEF-F11E928817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C1F9A-DD0F-AE75-13E0-5BF9032F0172}"/>
              </a:ext>
            </a:extLst>
          </p:cNvPr>
          <p:cNvSpPr>
            <a:spLocks noGrp="1"/>
          </p:cNvSpPr>
          <p:nvPr>
            <p:ph type="dt" sz="half" idx="10"/>
          </p:nvPr>
        </p:nvSpPr>
        <p:spPr/>
        <p:txBody>
          <a:body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4958DD5C-8F3D-E288-4706-316A64DD0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AB6F1-FF20-A663-63ED-B355516F40C8}"/>
              </a:ext>
            </a:extLst>
          </p:cNvPr>
          <p:cNvSpPr>
            <a:spLocks noGrp="1"/>
          </p:cNvSpPr>
          <p:nvPr>
            <p:ph type="sldNum" sz="quarter" idx="12"/>
          </p:nvPr>
        </p:nvSpPr>
        <p:spPr/>
        <p:txBody>
          <a:bodyPr/>
          <a:lstStyle/>
          <a:p>
            <a:fld id="{970DC8DA-8815-49DC-85B5-F728E7170959}" type="slidenum">
              <a:rPr lang="en-US" smtClean="0"/>
              <a:t>‹#›</a:t>
            </a:fld>
            <a:endParaRPr lang="en-US"/>
          </a:p>
        </p:txBody>
      </p:sp>
    </p:spTree>
    <p:extLst>
      <p:ext uri="{BB962C8B-B14F-4D97-AF65-F5344CB8AC3E}">
        <p14:creationId xmlns:p14="http://schemas.microsoft.com/office/powerpoint/2010/main" val="268117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58623C-90FB-56AC-148B-73A32439BC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19197D-82F3-AFE0-8CF6-9E5B5485B5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81DCC8-29AF-F97B-C7F6-D27B6B5B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DF3C44-0F2B-4C51-9642-71CF1991A368}" type="datetimeFigureOut">
              <a:rPr lang="en-US" smtClean="0"/>
              <a:t>2024-10-01</a:t>
            </a:fld>
            <a:endParaRPr lang="en-US"/>
          </a:p>
        </p:txBody>
      </p:sp>
      <p:sp>
        <p:nvSpPr>
          <p:cNvPr id="5" name="Footer Placeholder 4">
            <a:extLst>
              <a:ext uri="{FF2B5EF4-FFF2-40B4-BE49-F238E27FC236}">
                <a16:creationId xmlns:a16="http://schemas.microsoft.com/office/drawing/2014/main" id="{2BE5D0C1-1644-5928-B918-A85353F955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8D75A0-4095-A9F2-F09A-038464BADE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0DC8DA-8815-49DC-85B5-F728E7170959}" type="slidenum">
              <a:rPr lang="en-US" smtClean="0"/>
              <a:t>‹#›</a:t>
            </a:fld>
            <a:endParaRPr lang="en-US"/>
          </a:p>
        </p:txBody>
      </p:sp>
    </p:spTree>
    <p:extLst>
      <p:ext uri="{BB962C8B-B14F-4D97-AF65-F5344CB8AC3E}">
        <p14:creationId xmlns:p14="http://schemas.microsoft.com/office/powerpoint/2010/main" val="4290281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huffpost.com/entry/pull-yourself-up-by-your-bootstraps-nonsense_n_5b1ed024e4b0bbb7a0e037d4"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ommons.wikimedia.org/wiki/File:Ibm_pc_5150.jpg"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erebral-overload.com/2014/01/thermaltake-releases-innovational-full-tower-pc-case-core-v71/"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reddit.com/r/nostalgia/comments/d1xki9/the_many_floppy_disks_used_to_install_microsof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7D2DD-6618-FFA0-4D77-1FC68BA7530B}"/>
              </a:ext>
            </a:extLst>
          </p:cNvPr>
          <p:cNvSpPr>
            <a:spLocks noGrp="1"/>
          </p:cNvSpPr>
          <p:nvPr>
            <p:ph type="ctrTitle"/>
          </p:nvPr>
        </p:nvSpPr>
        <p:spPr/>
        <p:txBody>
          <a:bodyPr/>
          <a:lstStyle/>
          <a:p>
            <a:r>
              <a:rPr lang="en-US" dirty="0"/>
              <a:t>Installing and Booting Operating Systems</a:t>
            </a:r>
          </a:p>
        </p:txBody>
      </p:sp>
      <p:sp>
        <p:nvSpPr>
          <p:cNvPr id="3" name="Subtitle 2">
            <a:extLst>
              <a:ext uri="{FF2B5EF4-FFF2-40B4-BE49-F238E27FC236}">
                <a16:creationId xmlns:a16="http://schemas.microsoft.com/office/drawing/2014/main" id="{9FE6DD78-A2AB-8B0D-F21B-C43E05579FFF}"/>
              </a:ext>
            </a:extLst>
          </p:cNvPr>
          <p:cNvSpPr>
            <a:spLocks noGrp="1"/>
          </p:cNvSpPr>
          <p:nvPr>
            <p:ph type="subTitle" idx="1"/>
          </p:nvPr>
        </p:nvSpPr>
        <p:spPr/>
        <p:txBody>
          <a:bodyPr/>
          <a:lstStyle/>
          <a:p>
            <a:r>
              <a:rPr lang="en-US" dirty="0"/>
              <a:t>BYU IT&amp;C 344 – S01</a:t>
            </a:r>
          </a:p>
        </p:txBody>
      </p:sp>
    </p:spTree>
    <p:extLst>
      <p:ext uri="{BB962C8B-B14F-4D97-AF65-F5344CB8AC3E}">
        <p14:creationId xmlns:p14="http://schemas.microsoft.com/office/powerpoint/2010/main" val="4155180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CBE1B-FCCF-254A-9F26-B848488D3DCC}"/>
              </a:ext>
            </a:extLst>
          </p:cNvPr>
          <p:cNvSpPr>
            <a:spLocks noGrp="1"/>
          </p:cNvSpPr>
          <p:nvPr>
            <p:ph type="title"/>
          </p:nvPr>
        </p:nvSpPr>
        <p:spPr>
          <a:xfrm>
            <a:off x="640080" y="325369"/>
            <a:ext cx="4368602" cy="1956841"/>
          </a:xfrm>
        </p:spPr>
        <p:txBody>
          <a:bodyPr anchor="b">
            <a:normAutofit/>
          </a:bodyPr>
          <a:lstStyle/>
          <a:p>
            <a:r>
              <a:rPr lang="en-US" sz="4600"/>
              <a:t>Booting an Operating System</a:t>
            </a:r>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2DDD20-501F-C7BB-62AB-0848B7D6CA0C}"/>
              </a:ext>
            </a:extLst>
          </p:cNvPr>
          <p:cNvSpPr>
            <a:spLocks noGrp="1"/>
          </p:cNvSpPr>
          <p:nvPr>
            <p:ph idx="1"/>
          </p:nvPr>
        </p:nvSpPr>
        <p:spPr>
          <a:xfrm>
            <a:off x="640080" y="2872899"/>
            <a:ext cx="4243589" cy="3320668"/>
          </a:xfrm>
        </p:spPr>
        <p:txBody>
          <a:bodyPr>
            <a:normAutofit/>
          </a:bodyPr>
          <a:lstStyle/>
          <a:p>
            <a:r>
              <a:rPr lang="en-US" sz="2200"/>
              <a:t>“Boot” is short for “Bootstrap”</a:t>
            </a:r>
          </a:p>
          <a:p>
            <a:r>
              <a:rPr lang="en-US" sz="2200"/>
              <a:t>“Bootstrap” refers to pulling oneself up by their bootstraps (which is, of course, impossible).</a:t>
            </a:r>
          </a:p>
        </p:txBody>
      </p:sp>
      <p:pic>
        <p:nvPicPr>
          <p:cNvPr id="1026" name="Picture 2" descr="TIL &quot;Pull yourself up by your bootstraps&quot; originated as an idiom to describe a ludicrously far ...">
            <a:extLst>
              <a:ext uri="{FF2B5EF4-FFF2-40B4-BE49-F238E27FC236}">
                <a16:creationId xmlns:a16="http://schemas.microsoft.com/office/drawing/2014/main" id="{D46EAD7B-77FB-6E00-C999-4E354EA79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616" r="24964"/>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48E919-1E75-04F1-28DC-661AE68AA04D}"/>
              </a:ext>
            </a:extLst>
          </p:cNvPr>
          <p:cNvSpPr txBox="1"/>
          <p:nvPr/>
        </p:nvSpPr>
        <p:spPr>
          <a:xfrm>
            <a:off x="243184" y="6399646"/>
            <a:ext cx="4854502" cy="430887"/>
          </a:xfrm>
          <a:prstGeom prst="rect">
            <a:avLst/>
          </a:prstGeom>
          <a:noFill/>
        </p:spPr>
        <p:txBody>
          <a:bodyPr wrap="square" rtlCol="0">
            <a:spAutoFit/>
          </a:bodyPr>
          <a:lstStyle/>
          <a:p>
            <a:r>
              <a:rPr lang="en-US" sz="1100" dirty="0">
                <a:hlinkClick r:id="rId3"/>
              </a:rPr>
              <a:t>https://www.huffpost.com/entry/pull-yourself-up-by-your-bootstraps-nonsense_n_5b1ed024e4b0bbb7a0e037d4</a:t>
            </a:r>
            <a:endParaRPr lang="en-US" sz="1100" dirty="0"/>
          </a:p>
        </p:txBody>
      </p:sp>
    </p:spTree>
    <p:extLst>
      <p:ext uri="{BB962C8B-B14F-4D97-AF65-F5344CB8AC3E}">
        <p14:creationId xmlns:p14="http://schemas.microsoft.com/office/powerpoint/2010/main" val="374759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4C0D-E421-509B-5664-B215F13ADE31}"/>
              </a:ext>
            </a:extLst>
          </p:cNvPr>
          <p:cNvSpPr>
            <a:spLocks noGrp="1"/>
          </p:cNvSpPr>
          <p:nvPr>
            <p:ph type="title"/>
          </p:nvPr>
        </p:nvSpPr>
        <p:spPr/>
        <p:txBody>
          <a:bodyPr/>
          <a:lstStyle/>
          <a:p>
            <a:r>
              <a:rPr lang="en-US" dirty="0"/>
              <a:t>Booting</a:t>
            </a:r>
          </a:p>
        </p:txBody>
      </p:sp>
      <p:sp>
        <p:nvSpPr>
          <p:cNvPr id="3" name="Content Placeholder 2">
            <a:extLst>
              <a:ext uri="{FF2B5EF4-FFF2-40B4-BE49-F238E27FC236}">
                <a16:creationId xmlns:a16="http://schemas.microsoft.com/office/drawing/2014/main" id="{16C4BE42-983D-8199-7A9C-2DBA38C5C40A}"/>
              </a:ext>
            </a:extLst>
          </p:cNvPr>
          <p:cNvSpPr>
            <a:spLocks noGrp="1"/>
          </p:cNvSpPr>
          <p:nvPr>
            <p:ph idx="1"/>
          </p:nvPr>
        </p:nvSpPr>
        <p:spPr>
          <a:xfrm>
            <a:off x="838200" y="1600200"/>
            <a:ext cx="6705600" cy="4576763"/>
          </a:xfrm>
        </p:spPr>
        <p:txBody>
          <a:bodyPr>
            <a:normAutofit fontScale="92500"/>
          </a:bodyPr>
          <a:lstStyle/>
          <a:p>
            <a:r>
              <a:rPr lang="en-US" dirty="0"/>
              <a:t>The BIOS is code contained in read-only memory on the motherboard.</a:t>
            </a:r>
          </a:p>
          <a:p>
            <a:r>
              <a:rPr lang="en-US" dirty="0"/>
              <a:t>Early PCs had just enough code in the BIOS to read the first sector of the hard drive (the “boot sector”) and run that code.</a:t>
            </a:r>
          </a:p>
          <a:p>
            <a:r>
              <a:rPr lang="en-US" dirty="0"/>
              <a:t>The boot sector had just enough code to read the OS loader from a file in the right place on the drive (or floppy disk).</a:t>
            </a:r>
          </a:p>
          <a:p>
            <a:r>
              <a:rPr lang="en-US" dirty="0"/>
              <a:t>The OS loader loaded the balance of the code and launched the operating system.</a:t>
            </a:r>
          </a:p>
        </p:txBody>
      </p:sp>
      <p:pic>
        <p:nvPicPr>
          <p:cNvPr id="2050" name="Picture 2" descr="IBM’s First Personal Computer Was Released 34 Years Ago Today | Observer">
            <a:extLst>
              <a:ext uri="{FF2B5EF4-FFF2-40B4-BE49-F238E27FC236}">
                <a16:creationId xmlns:a16="http://schemas.microsoft.com/office/drawing/2014/main" id="{3C41911A-7BFF-3489-F7C4-7B5A78972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1447800"/>
            <a:ext cx="4182162" cy="3886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D230004-B981-ECD3-70D1-8CE55DCD3153}"/>
              </a:ext>
            </a:extLst>
          </p:cNvPr>
          <p:cNvSpPr txBox="1"/>
          <p:nvPr/>
        </p:nvSpPr>
        <p:spPr>
          <a:xfrm>
            <a:off x="8077200" y="5562600"/>
            <a:ext cx="3778599" cy="261610"/>
          </a:xfrm>
          <a:prstGeom prst="rect">
            <a:avLst/>
          </a:prstGeom>
          <a:noFill/>
        </p:spPr>
        <p:txBody>
          <a:bodyPr wrap="none" rtlCol="0">
            <a:spAutoFit/>
          </a:bodyPr>
          <a:lstStyle/>
          <a:p>
            <a:r>
              <a:rPr lang="en-US" sz="1100" dirty="0">
                <a:hlinkClick r:id="rId3"/>
              </a:rPr>
              <a:t>https://commons.wikimedia.org/wiki/File:Ibm_pc_5150.jpg</a:t>
            </a:r>
            <a:endParaRPr lang="en-US" sz="1100" dirty="0"/>
          </a:p>
        </p:txBody>
      </p:sp>
    </p:spTree>
    <p:extLst>
      <p:ext uri="{BB962C8B-B14F-4D97-AF65-F5344CB8AC3E}">
        <p14:creationId xmlns:p14="http://schemas.microsoft.com/office/powerpoint/2010/main" val="320951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F728E-06F8-6B64-E554-D00E3CC2FAEE}"/>
              </a:ext>
            </a:extLst>
          </p:cNvPr>
          <p:cNvSpPr>
            <a:spLocks noGrp="1"/>
          </p:cNvSpPr>
          <p:nvPr>
            <p:ph type="title"/>
          </p:nvPr>
        </p:nvSpPr>
        <p:spPr/>
        <p:txBody>
          <a:bodyPr/>
          <a:lstStyle/>
          <a:p>
            <a:r>
              <a:rPr lang="en-US" dirty="0"/>
              <a:t>Contemporary Booting</a:t>
            </a:r>
          </a:p>
        </p:txBody>
      </p:sp>
      <p:sp>
        <p:nvSpPr>
          <p:cNvPr id="3" name="Content Placeholder 2">
            <a:extLst>
              <a:ext uri="{FF2B5EF4-FFF2-40B4-BE49-F238E27FC236}">
                <a16:creationId xmlns:a16="http://schemas.microsoft.com/office/drawing/2014/main" id="{7630D0E8-C5C9-25C5-E54C-E9300789160A}"/>
              </a:ext>
            </a:extLst>
          </p:cNvPr>
          <p:cNvSpPr>
            <a:spLocks noGrp="1"/>
          </p:cNvSpPr>
          <p:nvPr>
            <p:ph idx="1"/>
          </p:nvPr>
        </p:nvSpPr>
        <p:spPr>
          <a:xfrm>
            <a:off x="838200" y="1825625"/>
            <a:ext cx="6324600" cy="4351338"/>
          </a:xfrm>
        </p:spPr>
        <p:txBody>
          <a:bodyPr/>
          <a:lstStyle/>
          <a:p>
            <a:r>
              <a:rPr lang="en-US" dirty="0"/>
              <a:t>The process is still mostly the same even though contemporary computers have a lot more in their BIOS.</a:t>
            </a:r>
          </a:p>
          <a:p>
            <a:r>
              <a:rPr lang="en-US" dirty="0"/>
              <a:t>On an x86 processor, booting occurs in 16-bit “Real Mode”. Once the kernel is loaded (whether Windows, Linux, or something else) it switches to 32-bit or 64-bit “Protected Mode.”</a:t>
            </a:r>
          </a:p>
        </p:txBody>
      </p:sp>
      <p:pic>
        <p:nvPicPr>
          <p:cNvPr id="3074" name="Picture 2" descr="Thermaltake releases innovational full-tower PC case – Core V71 - Cerebral-Overload">
            <a:extLst>
              <a:ext uri="{FF2B5EF4-FFF2-40B4-BE49-F238E27FC236}">
                <a16:creationId xmlns:a16="http://schemas.microsoft.com/office/drawing/2014/main" id="{C726180B-75F1-87BA-22E8-96AD5E991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990600"/>
            <a:ext cx="4129476" cy="4724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E6A2CD9-B85F-B4CE-092B-E87B7506F2C6}"/>
              </a:ext>
            </a:extLst>
          </p:cNvPr>
          <p:cNvSpPr txBox="1"/>
          <p:nvPr/>
        </p:nvSpPr>
        <p:spPr>
          <a:xfrm>
            <a:off x="7696200" y="5943600"/>
            <a:ext cx="3962400" cy="430887"/>
          </a:xfrm>
          <a:prstGeom prst="rect">
            <a:avLst/>
          </a:prstGeom>
          <a:noFill/>
        </p:spPr>
        <p:txBody>
          <a:bodyPr wrap="square" rtlCol="0">
            <a:spAutoFit/>
          </a:bodyPr>
          <a:lstStyle/>
          <a:p>
            <a:r>
              <a:rPr lang="en-US" sz="1100" dirty="0">
                <a:hlinkClick r:id="rId3"/>
              </a:rPr>
              <a:t>https://cerebral-overload.com/2014/01/thermaltake-releases-innovational-full-tower-pc-case-core-v71/</a:t>
            </a:r>
            <a:r>
              <a:rPr lang="en-US" sz="1100" dirty="0"/>
              <a:t> </a:t>
            </a:r>
          </a:p>
        </p:txBody>
      </p:sp>
    </p:spTree>
    <p:extLst>
      <p:ext uri="{BB962C8B-B14F-4D97-AF65-F5344CB8AC3E}">
        <p14:creationId xmlns:p14="http://schemas.microsoft.com/office/powerpoint/2010/main" val="2912126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E594-5A3D-C89C-7429-1190EEDF7226}"/>
              </a:ext>
            </a:extLst>
          </p:cNvPr>
          <p:cNvSpPr>
            <a:spLocks noGrp="1"/>
          </p:cNvSpPr>
          <p:nvPr>
            <p:ph type="title"/>
          </p:nvPr>
        </p:nvSpPr>
        <p:spPr>
          <a:xfrm>
            <a:off x="215599" y="76200"/>
            <a:ext cx="7467600" cy="721695"/>
          </a:xfrm>
        </p:spPr>
        <p:txBody>
          <a:bodyPr>
            <a:normAutofit/>
          </a:bodyPr>
          <a:lstStyle/>
          <a:p>
            <a:r>
              <a:rPr lang="en-US" dirty="0"/>
              <a:t>Installing an Operating System</a:t>
            </a:r>
          </a:p>
        </p:txBody>
      </p:sp>
      <p:sp>
        <p:nvSpPr>
          <p:cNvPr id="3" name="Content Placeholder 2">
            <a:extLst>
              <a:ext uri="{FF2B5EF4-FFF2-40B4-BE49-F238E27FC236}">
                <a16:creationId xmlns:a16="http://schemas.microsoft.com/office/drawing/2014/main" id="{48705CE6-A62D-0ABA-7972-403943CE4244}"/>
              </a:ext>
            </a:extLst>
          </p:cNvPr>
          <p:cNvSpPr>
            <a:spLocks noGrp="1"/>
          </p:cNvSpPr>
          <p:nvPr>
            <p:ph idx="1"/>
          </p:nvPr>
        </p:nvSpPr>
        <p:spPr>
          <a:xfrm>
            <a:off x="304800" y="797896"/>
            <a:ext cx="7391400" cy="5831504"/>
          </a:xfrm>
        </p:spPr>
        <p:txBody>
          <a:bodyPr>
            <a:normAutofit/>
          </a:bodyPr>
          <a:lstStyle/>
          <a:p>
            <a:r>
              <a:rPr lang="en-US" dirty="0"/>
              <a:t>The OS installer itself requires a minimal operating system.</a:t>
            </a:r>
          </a:p>
          <a:p>
            <a:r>
              <a:rPr lang="en-US" dirty="0"/>
              <a:t>The installation OS boots from physical installation media.</a:t>
            </a:r>
          </a:p>
          <a:p>
            <a:pPr lvl="1"/>
            <a:r>
              <a:rPr lang="en-US" dirty="0"/>
              <a:t>These days, you usually prepare a bootable USB Drive</a:t>
            </a:r>
          </a:p>
          <a:p>
            <a:pPr lvl="1"/>
            <a:r>
              <a:rPr lang="en-US" dirty="0"/>
              <a:t>Previously, you installed from a CD or DVD</a:t>
            </a:r>
          </a:p>
          <a:p>
            <a:pPr lvl="1"/>
            <a:r>
              <a:rPr lang="en-US" dirty="0"/>
              <a:t>Historically, you installed from a stack of floppy disks.</a:t>
            </a:r>
          </a:p>
          <a:p>
            <a:r>
              <a:rPr lang="en-US" dirty="0"/>
              <a:t>When installing to a virtual machine, we install from an ISO file which is simply an image of a CD or DVD.</a:t>
            </a:r>
          </a:p>
          <a:p>
            <a:pPr lvl="1"/>
            <a:r>
              <a:rPr lang="en-US" dirty="0"/>
              <a:t>The VM treats the ISO file as if it were an actual CD or DVD inserted into a drive.</a:t>
            </a:r>
          </a:p>
        </p:txBody>
      </p:sp>
      <p:pic>
        <p:nvPicPr>
          <p:cNvPr id="4098" name="Picture 2" descr="the many floppy disks used to install Microsoft® software : nostalgia">
            <a:extLst>
              <a:ext uri="{FF2B5EF4-FFF2-40B4-BE49-F238E27FC236}">
                <a16:creationId xmlns:a16="http://schemas.microsoft.com/office/drawing/2014/main" id="{42C83346-F863-BD03-4CC2-1BF067DACE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228600"/>
            <a:ext cx="3733800" cy="3733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DF6B9D-F9D9-02BE-A2ED-1A299A774759}"/>
              </a:ext>
            </a:extLst>
          </p:cNvPr>
          <p:cNvSpPr txBox="1"/>
          <p:nvPr/>
        </p:nvSpPr>
        <p:spPr>
          <a:xfrm>
            <a:off x="8183033" y="4724400"/>
            <a:ext cx="30480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DOS 6.22: 5 floppies</a:t>
            </a:r>
          </a:p>
          <a:p>
            <a:pPr marL="285750" indent="-285750">
              <a:buFont typeface="Arial" panose="020B0604020202020204" pitchFamily="34" charset="0"/>
              <a:buChar char="•"/>
            </a:pPr>
            <a:r>
              <a:rPr lang="en-US" dirty="0"/>
              <a:t>Windows 95: 13 floppies</a:t>
            </a:r>
          </a:p>
          <a:p>
            <a:pPr marL="285750" indent="-285750">
              <a:buFont typeface="Arial" panose="020B0604020202020204" pitchFamily="34" charset="0"/>
              <a:buChar char="•"/>
            </a:pPr>
            <a:r>
              <a:rPr lang="en-US" dirty="0"/>
              <a:t>Office Pro: Lots!</a:t>
            </a:r>
          </a:p>
        </p:txBody>
      </p:sp>
      <p:sp>
        <p:nvSpPr>
          <p:cNvPr id="7" name="TextBox 6">
            <a:extLst>
              <a:ext uri="{FF2B5EF4-FFF2-40B4-BE49-F238E27FC236}">
                <a16:creationId xmlns:a16="http://schemas.microsoft.com/office/drawing/2014/main" id="{FEA2C822-6345-8B17-A626-BF2655792F4B}"/>
              </a:ext>
            </a:extLst>
          </p:cNvPr>
          <p:cNvSpPr txBox="1"/>
          <p:nvPr/>
        </p:nvSpPr>
        <p:spPr>
          <a:xfrm>
            <a:off x="8077200" y="4005590"/>
            <a:ext cx="3810000" cy="430887"/>
          </a:xfrm>
          <a:prstGeom prst="rect">
            <a:avLst/>
          </a:prstGeom>
          <a:noFill/>
        </p:spPr>
        <p:txBody>
          <a:bodyPr wrap="square" rtlCol="0">
            <a:spAutoFit/>
          </a:bodyPr>
          <a:lstStyle/>
          <a:p>
            <a:r>
              <a:rPr lang="en-US" sz="1100" dirty="0">
                <a:hlinkClick r:id="rId4"/>
              </a:rPr>
              <a:t>https://www.reddit.com/r/nostalgia/comments/d1xki9/the_many_floppy_disks_used_to_install_microsoft/</a:t>
            </a:r>
            <a:endParaRPr lang="en-US" sz="1100" dirty="0"/>
          </a:p>
        </p:txBody>
      </p:sp>
    </p:spTree>
    <p:extLst>
      <p:ext uri="{BB962C8B-B14F-4D97-AF65-F5344CB8AC3E}">
        <p14:creationId xmlns:p14="http://schemas.microsoft.com/office/powerpoint/2010/main" val="166651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D0C6A-4CDD-FF5C-E38F-A675474C64AD}"/>
              </a:ext>
            </a:extLst>
          </p:cNvPr>
          <p:cNvSpPr>
            <a:spLocks noGrp="1"/>
          </p:cNvSpPr>
          <p:nvPr>
            <p:ph type="title"/>
          </p:nvPr>
        </p:nvSpPr>
        <p:spPr/>
        <p:txBody>
          <a:bodyPr/>
          <a:lstStyle/>
          <a:p>
            <a:r>
              <a:rPr lang="en-US" dirty="0"/>
              <a:t>PXE Boot – Over the network!</a:t>
            </a:r>
          </a:p>
        </p:txBody>
      </p:sp>
      <p:sp>
        <p:nvSpPr>
          <p:cNvPr id="3" name="Content Placeholder 2">
            <a:extLst>
              <a:ext uri="{FF2B5EF4-FFF2-40B4-BE49-F238E27FC236}">
                <a16:creationId xmlns:a16="http://schemas.microsoft.com/office/drawing/2014/main" id="{3BDF0FDF-5513-8C51-446F-9665CC401798}"/>
              </a:ext>
            </a:extLst>
          </p:cNvPr>
          <p:cNvSpPr>
            <a:spLocks noGrp="1"/>
          </p:cNvSpPr>
          <p:nvPr>
            <p:ph idx="1"/>
          </p:nvPr>
        </p:nvSpPr>
        <p:spPr>
          <a:xfrm>
            <a:off x="838200" y="1825625"/>
            <a:ext cx="6705600" cy="4351338"/>
          </a:xfrm>
        </p:spPr>
        <p:txBody>
          <a:bodyPr/>
          <a:lstStyle/>
          <a:p>
            <a:r>
              <a:rPr lang="en-US" dirty="0"/>
              <a:t>PXE = </a:t>
            </a:r>
            <a:r>
              <a:rPr lang="en-US" dirty="0" err="1"/>
              <a:t>Preboot</a:t>
            </a:r>
            <a:r>
              <a:rPr lang="en-US" dirty="0"/>
              <a:t> </a:t>
            </a:r>
            <a:r>
              <a:rPr lang="en-US" dirty="0" err="1"/>
              <a:t>eXecution</a:t>
            </a:r>
            <a:r>
              <a:rPr lang="en-US" dirty="0"/>
              <a:t> Environment</a:t>
            </a:r>
          </a:p>
          <a:p>
            <a:r>
              <a:rPr lang="en-US" dirty="0"/>
              <a:t>Useful for an operating system image on lots of computers (like in a lab)</a:t>
            </a:r>
          </a:p>
          <a:p>
            <a:r>
              <a:rPr lang="en-US" dirty="0"/>
              <a:t>Useful for storage-less computers</a:t>
            </a:r>
          </a:p>
          <a:p>
            <a:r>
              <a:rPr lang="en-US" dirty="0"/>
              <a:t>Can be the basis of a high-security environment where computers have no local storage.</a:t>
            </a:r>
          </a:p>
        </p:txBody>
      </p:sp>
    </p:spTree>
    <p:extLst>
      <p:ext uri="{BB962C8B-B14F-4D97-AF65-F5344CB8AC3E}">
        <p14:creationId xmlns:p14="http://schemas.microsoft.com/office/powerpoint/2010/main" val="202110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FB55-EBF4-CE7B-08D9-D24A573B922B}"/>
              </a:ext>
            </a:extLst>
          </p:cNvPr>
          <p:cNvSpPr>
            <a:spLocks noGrp="1"/>
          </p:cNvSpPr>
          <p:nvPr>
            <p:ph type="title"/>
          </p:nvPr>
        </p:nvSpPr>
        <p:spPr/>
        <p:txBody>
          <a:bodyPr/>
          <a:lstStyle/>
          <a:p>
            <a:r>
              <a:rPr lang="en-US" dirty="0"/>
              <a:t>Demos</a:t>
            </a:r>
          </a:p>
        </p:txBody>
      </p:sp>
      <p:sp>
        <p:nvSpPr>
          <p:cNvPr id="3" name="Content Placeholder 2">
            <a:extLst>
              <a:ext uri="{FF2B5EF4-FFF2-40B4-BE49-F238E27FC236}">
                <a16:creationId xmlns:a16="http://schemas.microsoft.com/office/drawing/2014/main" id="{766C7C85-A4CB-C455-C5AA-498C0DFDDB1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0597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494</Words>
  <Application>Microsoft Office PowerPoint</Application>
  <PresentationFormat>Widescreen</PresentationFormat>
  <Paragraphs>36</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Installing and Booting Operating Systems</vt:lpstr>
      <vt:lpstr>Booting an Operating System</vt:lpstr>
      <vt:lpstr>Booting</vt:lpstr>
      <vt:lpstr>Contemporary Booting</vt:lpstr>
      <vt:lpstr>Installing an Operating System</vt:lpstr>
      <vt:lpstr>PXE Boot – Over the network!</vt:lpstr>
      <vt:lpstr>Demos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2024-09-07T22:49:12Z</dcterms:created>
  <dcterms:modified xsi:type="dcterms:W3CDTF">2024-10-02T04:13:23Z</dcterms:modified>
</cp:coreProperties>
</file>