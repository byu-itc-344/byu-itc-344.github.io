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59" r:id="rId5"/>
    <p:sldId id="261" r:id="rId6"/>
    <p:sldId id="262" r:id="rId7"/>
    <p:sldId id="263" r:id="rId8"/>
    <p:sldId id="264" r:id="rId9"/>
    <p:sldId id="265" r:id="rId10"/>
    <p:sldId id="26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p:cViewPr varScale="1">
        <p:scale>
          <a:sx n="116" d="100"/>
          <a:sy n="116" d="100"/>
        </p:scale>
        <p:origin x="1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6B0DAE40-DD66-456D-84F5-33B334B86C9D}"/>
    <pc:docChg chg="undo custSel modSld">
      <pc:chgData name="Brandt Redd" userId="be8ed540b98adac0" providerId="LiveId" clId="{6B0DAE40-DD66-456D-84F5-33B334B86C9D}" dt="2024-10-14T16:31:43.710" v="112" actId="11529"/>
      <pc:docMkLst>
        <pc:docMk/>
      </pc:docMkLst>
      <pc:sldChg chg="addSp delSp modSp mod">
        <pc:chgData name="Brandt Redd" userId="be8ed540b98adac0" providerId="LiveId" clId="{6B0DAE40-DD66-456D-84F5-33B334B86C9D}" dt="2024-10-14T16:31:43.710" v="112" actId="11529"/>
        <pc:sldMkLst>
          <pc:docMk/>
          <pc:sldMk cId="652081323" sldId="264"/>
        </pc:sldMkLst>
        <pc:cxnChg chg="add del mod">
          <ac:chgData name="Brandt Redd" userId="be8ed540b98adac0" providerId="LiveId" clId="{6B0DAE40-DD66-456D-84F5-33B334B86C9D}" dt="2024-10-14T16:31:43.710" v="112" actId="11529"/>
          <ac:cxnSpMkLst>
            <pc:docMk/>
            <pc:sldMk cId="652081323" sldId="264"/>
            <ac:cxnSpMk id="6" creationId="{DCC36BD6-E5C5-F299-BE80-3AC72934E96E}"/>
          </ac:cxnSpMkLst>
        </pc:cxnChg>
      </pc:sldChg>
      <pc:sldChg chg="modSp mod">
        <pc:chgData name="Brandt Redd" userId="be8ed540b98adac0" providerId="LiveId" clId="{6B0DAE40-DD66-456D-84F5-33B334B86C9D}" dt="2024-10-07T16:16:08.785" v="108" actId="1076"/>
        <pc:sldMkLst>
          <pc:docMk/>
          <pc:sldMk cId="2698276320" sldId="266"/>
        </pc:sldMkLst>
        <pc:spChg chg="mod">
          <ac:chgData name="Brandt Redd" userId="be8ed540b98adac0" providerId="LiveId" clId="{6B0DAE40-DD66-456D-84F5-33B334B86C9D}" dt="2024-10-07T16:16:03.775" v="107" actId="20577"/>
          <ac:spMkLst>
            <pc:docMk/>
            <pc:sldMk cId="2698276320" sldId="266"/>
            <ac:spMk id="3" creationId="{E6AFA2A0-56E4-C18C-75DC-4E95827DCB73}"/>
          </ac:spMkLst>
        </pc:spChg>
        <pc:grpChg chg="mod">
          <ac:chgData name="Brandt Redd" userId="be8ed540b98adac0" providerId="LiveId" clId="{6B0DAE40-DD66-456D-84F5-33B334B86C9D}" dt="2024-10-07T16:16:08.785" v="108" actId="1076"/>
          <ac:grpSpMkLst>
            <pc:docMk/>
            <pc:sldMk cId="2698276320" sldId="266"/>
            <ac:grpSpMk id="4" creationId="{26C4F97E-28A6-63C7-EDDC-B47FA4105A2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F42ED-1F0A-065C-3881-4C0AEED52B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328B29-2D73-52CA-6E5E-4D9BC35F84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E62590-3136-6410-8353-E64A1CFCE540}"/>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E1ADA0E5-947D-82C3-241C-0060E5F36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4B535-4F70-3875-A0FE-6AF350E07A87}"/>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247263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4FFF-C214-5324-E20A-2F1C588CB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C6C6F3-81FE-76C0-A5E5-23F6DC93FC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EE834-8946-1B8A-1905-295E3155966C}"/>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5805A445-D3F5-45AE-AF34-81ECCA230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00FA8-4F6D-E436-DA1E-CCD7A1C36D22}"/>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2282364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15004-BEC3-74E2-E74B-FC7CF86D4D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A62875-18C0-70E1-4C93-50D32C8725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17EB3-39FD-B28B-D911-F67821BE7839}"/>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C340F399-262C-3C2E-7867-7764F78C74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F8DF6-7B1D-1518-4B74-A7827DE90610}"/>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94038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930A0-D677-83D7-8E9A-591F0395E6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EEED84-DDE7-8E9F-E1BE-61387D439F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453425-300C-FD5E-E8A7-420FB5A2F9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DDAB57-663B-CC0C-C47F-435FD16A6070}"/>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6" name="Footer Placeholder 5">
            <a:extLst>
              <a:ext uri="{FF2B5EF4-FFF2-40B4-BE49-F238E27FC236}">
                <a16:creationId xmlns:a16="http://schemas.microsoft.com/office/drawing/2014/main" id="{B6BE4D94-A2C9-F82A-5386-6C4266963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A3CDE9-66E2-88C3-C334-52B25FDCBD67}"/>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323727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F18A-821D-A05F-985F-875AE61ABD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852F43-FC87-D06D-7F66-89F635EB9D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71F1D3-7AB6-320F-1182-89F5B93A7D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121DFC-0340-B145-455A-043185D50F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100419-2F12-E8B9-1FB2-333FC20664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CAB001-1FA7-2D93-6BE5-28764C180B82}"/>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8" name="Footer Placeholder 7">
            <a:extLst>
              <a:ext uri="{FF2B5EF4-FFF2-40B4-BE49-F238E27FC236}">
                <a16:creationId xmlns:a16="http://schemas.microsoft.com/office/drawing/2014/main" id="{B80BB30F-EAC7-5A06-780C-2DC38D0173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B4D8A9-D207-AB61-8118-229590BA312F}"/>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3393076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CDB6-0BE4-E9DA-FE90-FA3804130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32E866-3567-1805-5B92-1E52E3F73029}"/>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4" name="Footer Placeholder 3">
            <a:extLst>
              <a:ext uri="{FF2B5EF4-FFF2-40B4-BE49-F238E27FC236}">
                <a16:creationId xmlns:a16="http://schemas.microsoft.com/office/drawing/2014/main" id="{565A5F25-5240-46EB-4550-481F4EF6FA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1A859E-DB79-D7EA-D059-49F8D8332DAF}"/>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3702245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F65547-7345-D176-3C86-5947B133307F}"/>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3" name="Footer Placeholder 2">
            <a:extLst>
              <a:ext uri="{FF2B5EF4-FFF2-40B4-BE49-F238E27FC236}">
                <a16:creationId xmlns:a16="http://schemas.microsoft.com/office/drawing/2014/main" id="{090A39A7-4E7E-BCF0-D49E-AC445A603F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32203C-D274-6360-4088-08FC2EF0599B}"/>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1074102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689E-3383-8DE9-4319-5575388473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9BC5D-CDDF-B6D7-0E45-BF77A998B7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2BEB91-76A1-E545-89E3-711BB4D0C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6FD7E6-9F36-81AD-788F-101C730A31BB}"/>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6" name="Footer Placeholder 5">
            <a:extLst>
              <a:ext uri="{FF2B5EF4-FFF2-40B4-BE49-F238E27FC236}">
                <a16:creationId xmlns:a16="http://schemas.microsoft.com/office/drawing/2014/main" id="{0B6E13D0-6CDE-52CF-F9E6-1790CAEEC8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89DA5F-CF93-2974-0AE2-C64012AD1FD9}"/>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4294836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B566-225E-17A7-6D9E-48950D3E8A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8070E3-5C85-9AAB-7664-71B0DE814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805861-6CB4-F46C-584E-0811FD14B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C06A6D-5F40-AB05-C536-DD2582DBEE56}"/>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6" name="Footer Placeholder 5">
            <a:extLst>
              <a:ext uri="{FF2B5EF4-FFF2-40B4-BE49-F238E27FC236}">
                <a16:creationId xmlns:a16="http://schemas.microsoft.com/office/drawing/2014/main" id="{AC546117-093A-9F7B-CDBA-4A779806C8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961C70-4B32-C42E-A2A1-665688D31E77}"/>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2627331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AB95-7699-ED9E-31EC-28995E5B82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3DFBD1-A5D6-D491-7739-E02EA5A343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95378C-FE58-3B7B-752B-53A5CC8F4544}"/>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0F970A66-EF93-27BF-51C1-6071424FC0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50A8E-4973-FB06-4E26-404EC4AEFCEF}"/>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2703973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3696AB-2FCD-79BF-9708-2C18BB0702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53CF50-91A7-E2B4-568A-82D2DE4A5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A42D01-483A-C706-5648-226BD6560BF4}"/>
              </a:ext>
            </a:extLst>
          </p:cNvPr>
          <p:cNvSpPr>
            <a:spLocks noGrp="1"/>
          </p:cNvSpPr>
          <p:nvPr>
            <p:ph type="dt" sz="half" idx="10"/>
          </p:nvPr>
        </p:nvSpPr>
        <p:spPr/>
        <p:txBody>
          <a:body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9F032CC1-FDF4-A6BB-F815-91CA06425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F1337-1777-0742-BF0A-C11FA7CBFF61}"/>
              </a:ext>
            </a:extLst>
          </p:cNvPr>
          <p:cNvSpPr>
            <a:spLocks noGrp="1"/>
          </p:cNvSpPr>
          <p:nvPr>
            <p:ph type="sldNum" sz="quarter" idx="12"/>
          </p:nvPr>
        </p:nvSpPr>
        <p:spPr/>
        <p:txBody>
          <a:bodyPr/>
          <a:lstStyle/>
          <a:p>
            <a:fld id="{9713C546-5639-4194-A1DD-FA0E37469B38}" type="slidenum">
              <a:rPr lang="en-US" smtClean="0"/>
              <a:t>‹#›</a:t>
            </a:fld>
            <a:endParaRPr lang="en-US"/>
          </a:p>
        </p:txBody>
      </p:sp>
    </p:spTree>
    <p:extLst>
      <p:ext uri="{BB962C8B-B14F-4D97-AF65-F5344CB8AC3E}">
        <p14:creationId xmlns:p14="http://schemas.microsoft.com/office/powerpoint/2010/main" val="113382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13653-BAD9-D10E-744B-C9A6909C6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D7835F-1D7B-1F47-3B95-AC0BD9CBDE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4E9F9-D464-0CEE-7F31-3D08264B2B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3F1FF7-35F3-4646-940F-1E7092116188}" type="datetimeFigureOut">
              <a:rPr lang="en-US" smtClean="0"/>
              <a:t>2024-10-14</a:t>
            </a:fld>
            <a:endParaRPr lang="en-US"/>
          </a:p>
        </p:txBody>
      </p:sp>
      <p:sp>
        <p:nvSpPr>
          <p:cNvPr id="5" name="Footer Placeholder 4">
            <a:extLst>
              <a:ext uri="{FF2B5EF4-FFF2-40B4-BE49-F238E27FC236}">
                <a16:creationId xmlns:a16="http://schemas.microsoft.com/office/drawing/2014/main" id="{0C9C3C5E-C507-0513-0670-1DD1EEB88B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D9389BB-DDA6-067D-91ED-9CD6D3D2B0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13C546-5639-4194-A1DD-FA0E37469B38}" type="slidenum">
              <a:rPr lang="en-US" smtClean="0"/>
              <a:t>‹#›</a:t>
            </a:fld>
            <a:endParaRPr lang="en-US"/>
          </a:p>
        </p:txBody>
      </p:sp>
    </p:spTree>
    <p:extLst>
      <p:ext uri="{BB962C8B-B14F-4D97-AF65-F5344CB8AC3E}">
        <p14:creationId xmlns:p14="http://schemas.microsoft.com/office/powerpoint/2010/main" val="1977748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commons.wikimedia.org/w/index.php?curid=331092"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commons.wikimedia.org/w/index.php?curid=331092"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ommons.wikimedia.org/w/index.php?curid=366396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commons.wikimedia.org/w/index.php?curid=4781347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EED4-2B0B-270C-D505-15C935FBECC0}"/>
              </a:ext>
            </a:extLst>
          </p:cNvPr>
          <p:cNvSpPr>
            <a:spLocks noGrp="1"/>
          </p:cNvSpPr>
          <p:nvPr>
            <p:ph type="ctrTitle"/>
          </p:nvPr>
        </p:nvSpPr>
        <p:spPr/>
        <p:txBody>
          <a:bodyPr/>
          <a:lstStyle/>
          <a:p>
            <a:r>
              <a:rPr lang="en-US" dirty="0"/>
              <a:t>File System Basics</a:t>
            </a:r>
          </a:p>
        </p:txBody>
      </p:sp>
      <p:sp>
        <p:nvSpPr>
          <p:cNvPr id="3" name="Subtitle 2">
            <a:extLst>
              <a:ext uri="{FF2B5EF4-FFF2-40B4-BE49-F238E27FC236}">
                <a16:creationId xmlns:a16="http://schemas.microsoft.com/office/drawing/2014/main" id="{D02AE0CE-A784-53B3-D1AE-FDBCC58683AD}"/>
              </a:ext>
            </a:extLst>
          </p:cNvPr>
          <p:cNvSpPr>
            <a:spLocks noGrp="1"/>
          </p:cNvSpPr>
          <p:nvPr>
            <p:ph type="subTitle" idx="1"/>
          </p:nvPr>
        </p:nvSpPr>
        <p:spPr/>
        <p:txBody>
          <a:bodyPr/>
          <a:lstStyle/>
          <a:p>
            <a:r>
              <a:rPr lang="en-US" dirty="0"/>
              <a:t>IT&amp;C 344 – S10</a:t>
            </a:r>
          </a:p>
        </p:txBody>
      </p:sp>
    </p:spTree>
    <p:extLst>
      <p:ext uri="{BB962C8B-B14F-4D97-AF65-F5344CB8AC3E}">
        <p14:creationId xmlns:p14="http://schemas.microsoft.com/office/powerpoint/2010/main" val="320014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0C9F0-8DD3-1708-01F4-300C44B47FBF}"/>
              </a:ext>
            </a:extLst>
          </p:cNvPr>
          <p:cNvSpPr>
            <a:spLocks noGrp="1"/>
          </p:cNvSpPr>
          <p:nvPr>
            <p:ph type="title"/>
          </p:nvPr>
        </p:nvSpPr>
        <p:spPr>
          <a:xfrm>
            <a:off x="838200" y="365125"/>
            <a:ext cx="5562600" cy="777875"/>
          </a:xfrm>
        </p:spPr>
        <p:txBody>
          <a:bodyPr/>
          <a:lstStyle/>
          <a:p>
            <a:r>
              <a:rPr lang="en-US" dirty="0"/>
              <a:t>Magnetic Disk Storage</a:t>
            </a:r>
          </a:p>
        </p:txBody>
      </p:sp>
      <p:sp>
        <p:nvSpPr>
          <p:cNvPr id="3" name="Content Placeholder 2">
            <a:extLst>
              <a:ext uri="{FF2B5EF4-FFF2-40B4-BE49-F238E27FC236}">
                <a16:creationId xmlns:a16="http://schemas.microsoft.com/office/drawing/2014/main" id="{22377D39-D678-95FD-E3BC-F7AA5149778B}"/>
              </a:ext>
            </a:extLst>
          </p:cNvPr>
          <p:cNvSpPr>
            <a:spLocks noGrp="1"/>
          </p:cNvSpPr>
          <p:nvPr>
            <p:ph idx="1"/>
          </p:nvPr>
        </p:nvSpPr>
        <p:spPr>
          <a:xfrm>
            <a:off x="838200" y="1447800"/>
            <a:ext cx="4953000" cy="5045075"/>
          </a:xfrm>
        </p:spPr>
        <p:txBody>
          <a:bodyPr>
            <a:normAutofit/>
          </a:bodyPr>
          <a:lstStyle/>
          <a:p>
            <a:pPr marL="0" indent="0">
              <a:buNone/>
            </a:pPr>
            <a:r>
              <a:rPr lang="en-US" dirty="0"/>
              <a:t>Magnetic disc drives have a set of </a:t>
            </a:r>
            <a:r>
              <a:rPr lang="en-US" b="1" dirty="0"/>
              <a:t>platters</a:t>
            </a:r>
            <a:r>
              <a:rPr lang="en-US" dirty="0"/>
              <a:t>. Each platter has two </a:t>
            </a:r>
            <a:r>
              <a:rPr lang="en-US" b="1" dirty="0"/>
              <a:t>surfaces</a:t>
            </a:r>
            <a:r>
              <a:rPr lang="en-US" dirty="0"/>
              <a:t> and there is a read/write </a:t>
            </a:r>
            <a:r>
              <a:rPr lang="en-US" b="1" dirty="0"/>
              <a:t>head</a:t>
            </a:r>
            <a:r>
              <a:rPr lang="en-US" dirty="0"/>
              <a:t> for each surface.</a:t>
            </a:r>
          </a:p>
          <a:p>
            <a:pPr marL="0" indent="0">
              <a:buNone/>
            </a:pPr>
            <a:r>
              <a:rPr lang="en-US" dirty="0"/>
              <a:t>Each surface has a set of concentric </a:t>
            </a:r>
            <a:r>
              <a:rPr lang="en-US" b="1" dirty="0"/>
              <a:t>tracks</a:t>
            </a:r>
            <a:r>
              <a:rPr lang="en-US" dirty="0"/>
              <a:t>. The same track across all surfaces is a </a:t>
            </a:r>
            <a:r>
              <a:rPr lang="en-US" b="1" dirty="0"/>
              <a:t>cylinder</a:t>
            </a:r>
            <a:r>
              <a:rPr lang="en-US" dirty="0"/>
              <a:t>.</a:t>
            </a:r>
          </a:p>
          <a:p>
            <a:pPr marL="0" indent="0">
              <a:buNone/>
            </a:pPr>
            <a:r>
              <a:rPr lang="en-US" dirty="0"/>
              <a:t>Each track is divided into </a:t>
            </a:r>
            <a:r>
              <a:rPr lang="en-US" b="1" dirty="0"/>
              <a:t>sectors</a:t>
            </a:r>
            <a:r>
              <a:rPr lang="en-US" dirty="0"/>
              <a:t>. Reading and writing is done one sector at a time.</a:t>
            </a:r>
          </a:p>
        </p:txBody>
      </p:sp>
      <p:pic>
        <p:nvPicPr>
          <p:cNvPr id="4" name="Content Placeholder 4">
            <a:extLst>
              <a:ext uri="{FF2B5EF4-FFF2-40B4-BE49-F238E27FC236}">
                <a16:creationId xmlns:a16="http://schemas.microsoft.com/office/drawing/2014/main" id="{6359833A-2EEA-2594-3B18-D43C291DB6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0794" y="365124"/>
            <a:ext cx="5824412" cy="6264276"/>
          </a:xfrm>
          <a:prstGeom prst="rect">
            <a:avLst/>
          </a:prstGeom>
        </p:spPr>
      </p:pic>
      <p:sp>
        <p:nvSpPr>
          <p:cNvPr id="5" name="TextBox 4">
            <a:extLst>
              <a:ext uri="{FF2B5EF4-FFF2-40B4-BE49-F238E27FC236}">
                <a16:creationId xmlns:a16="http://schemas.microsoft.com/office/drawing/2014/main" id="{8D06FE4B-2116-2FBC-E414-E29F7CD8EBA9}"/>
              </a:ext>
            </a:extLst>
          </p:cNvPr>
          <p:cNvSpPr txBox="1"/>
          <p:nvPr/>
        </p:nvSpPr>
        <p:spPr>
          <a:xfrm>
            <a:off x="7391400" y="6262042"/>
            <a:ext cx="4495800" cy="461665"/>
          </a:xfrm>
          <a:prstGeom prst="rect">
            <a:avLst/>
          </a:prstGeom>
          <a:noFill/>
        </p:spPr>
        <p:txBody>
          <a:bodyPr wrap="square" rtlCol="0">
            <a:spAutoFit/>
          </a:bodyPr>
          <a:lstStyle/>
          <a:p>
            <a:r>
              <a:rPr lang="en-US" sz="1200" dirty="0"/>
              <a:t>By </a:t>
            </a:r>
            <a:r>
              <a:rPr lang="en-US" sz="1200" dirty="0" err="1"/>
              <a:t>LionKimbro</a:t>
            </a:r>
            <a:r>
              <a:rPr lang="en-US" sz="1200" dirty="0"/>
              <a:t> - Own work, Public Domain, </a:t>
            </a:r>
            <a:r>
              <a:rPr lang="en-US" sz="1200" dirty="0">
                <a:hlinkClick r:id="rId4"/>
              </a:rPr>
              <a:t>https://commons.wikimedia.org/w/index.php?curid=331092</a:t>
            </a:r>
            <a:endParaRPr lang="en-US" sz="1200" dirty="0"/>
          </a:p>
        </p:txBody>
      </p:sp>
    </p:spTree>
    <p:extLst>
      <p:ext uri="{BB962C8B-B14F-4D97-AF65-F5344CB8AC3E}">
        <p14:creationId xmlns:p14="http://schemas.microsoft.com/office/powerpoint/2010/main" val="3290484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9A8BE2-C143-C48A-DE25-C4EDE4A52719}"/>
              </a:ext>
            </a:extLst>
          </p:cNvPr>
          <p:cNvSpPr>
            <a:spLocks noGrp="1"/>
          </p:cNvSpPr>
          <p:nvPr>
            <p:ph idx="1"/>
          </p:nvPr>
        </p:nvSpPr>
        <p:spPr>
          <a:xfrm>
            <a:off x="838200" y="685800"/>
            <a:ext cx="5029200" cy="5491163"/>
          </a:xfrm>
        </p:spPr>
        <p:txBody>
          <a:bodyPr/>
          <a:lstStyle/>
          <a:p>
            <a:pPr marL="0" indent="0">
              <a:buNone/>
            </a:pPr>
            <a:r>
              <a:rPr lang="en-US" b="1" dirty="0"/>
              <a:t>Access time</a:t>
            </a:r>
            <a:r>
              <a:rPr lang="en-US" dirty="0"/>
              <a:t> is the sum of:</a:t>
            </a:r>
          </a:p>
          <a:p>
            <a:r>
              <a:rPr lang="en-US" b="1" dirty="0"/>
              <a:t>Seek time</a:t>
            </a:r>
            <a:r>
              <a:rPr lang="en-US" dirty="0"/>
              <a:t>: time it takes the heads to move to the right track.</a:t>
            </a:r>
          </a:p>
          <a:p>
            <a:r>
              <a:rPr lang="en-US" b="1" dirty="0"/>
              <a:t>Rotational latency</a:t>
            </a:r>
            <a:r>
              <a:rPr lang="en-US" dirty="0"/>
              <a:t>: time it takes for the disk to rotate until the right sector is under the heads.</a:t>
            </a:r>
          </a:p>
          <a:p>
            <a:r>
              <a:rPr lang="en-US" b="1" dirty="0"/>
              <a:t>Transfer time:</a:t>
            </a:r>
            <a:r>
              <a:rPr lang="en-US" dirty="0"/>
              <a:t> time it takes to read the sectors from the disk.</a:t>
            </a:r>
            <a:endParaRPr lang="en-US" b="1" dirty="0"/>
          </a:p>
        </p:txBody>
      </p:sp>
      <p:pic>
        <p:nvPicPr>
          <p:cNvPr id="4" name="Content Placeholder 4">
            <a:extLst>
              <a:ext uri="{FF2B5EF4-FFF2-40B4-BE49-F238E27FC236}">
                <a16:creationId xmlns:a16="http://schemas.microsoft.com/office/drawing/2014/main" id="{D2092C4B-04F1-AA66-888B-47F45903D6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0794" y="365124"/>
            <a:ext cx="5824412" cy="6264276"/>
          </a:xfrm>
          <a:prstGeom prst="rect">
            <a:avLst/>
          </a:prstGeom>
        </p:spPr>
      </p:pic>
      <p:sp>
        <p:nvSpPr>
          <p:cNvPr id="5" name="TextBox 4">
            <a:extLst>
              <a:ext uri="{FF2B5EF4-FFF2-40B4-BE49-F238E27FC236}">
                <a16:creationId xmlns:a16="http://schemas.microsoft.com/office/drawing/2014/main" id="{A3DD2597-0333-2244-C4ED-F9881C5D771F}"/>
              </a:ext>
            </a:extLst>
          </p:cNvPr>
          <p:cNvSpPr txBox="1"/>
          <p:nvPr/>
        </p:nvSpPr>
        <p:spPr>
          <a:xfrm>
            <a:off x="7391400" y="6262042"/>
            <a:ext cx="4495800" cy="461665"/>
          </a:xfrm>
          <a:prstGeom prst="rect">
            <a:avLst/>
          </a:prstGeom>
          <a:noFill/>
        </p:spPr>
        <p:txBody>
          <a:bodyPr wrap="square" rtlCol="0">
            <a:spAutoFit/>
          </a:bodyPr>
          <a:lstStyle/>
          <a:p>
            <a:r>
              <a:rPr lang="en-US" sz="1200" dirty="0"/>
              <a:t>By </a:t>
            </a:r>
            <a:r>
              <a:rPr lang="en-US" sz="1200" dirty="0" err="1"/>
              <a:t>LionKimbro</a:t>
            </a:r>
            <a:r>
              <a:rPr lang="en-US" sz="1200" dirty="0"/>
              <a:t> - Own work, Public Domain, </a:t>
            </a:r>
            <a:r>
              <a:rPr lang="en-US" sz="1200" dirty="0">
                <a:hlinkClick r:id="rId4"/>
              </a:rPr>
              <a:t>https://commons.wikimedia.org/w/index.php?curid=331092</a:t>
            </a:r>
            <a:endParaRPr lang="en-US" sz="1200" dirty="0"/>
          </a:p>
        </p:txBody>
      </p:sp>
    </p:spTree>
    <p:extLst>
      <p:ext uri="{BB962C8B-B14F-4D97-AF65-F5344CB8AC3E}">
        <p14:creationId xmlns:p14="http://schemas.microsoft.com/office/powerpoint/2010/main" val="1594854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7587-6D98-8161-FAE4-0733F4E63CB2}"/>
              </a:ext>
            </a:extLst>
          </p:cNvPr>
          <p:cNvSpPr>
            <a:spLocks noGrp="1"/>
          </p:cNvSpPr>
          <p:nvPr>
            <p:ph type="title"/>
          </p:nvPr>
        </p:nvSpPr>
        <p:spPr>
          <a:xfrm>
            <a:off x="838200" y="365125"/>
            <a:ext cx="5715000" cy="930275"/>
          </a:xfrm>
        </p:spPr>
        <p:txBody>
          <a:bodyPr/>
          <a:lstStyle/>
          <a:p>
            <a:r>
              <a:rPr lang="en-US" dirty="0"/>
              <a:t>Formatting</a:t>
            </a:r>
          </a:p>
        </p:txBody>
      </p:sp>
      <p:sp>
        <p:nvSpPr>
          <p:cNvPr id="3" name="Content Placeholder 2">
            <a:extLst>
              <a:ext uri="{FF2B5EF4-FFF2-40B4-BE49-F238E27FC236}">
                <a16:creationId xmlns:a16="http://schemas.microsoft.com/office/drawing/2014/main" id="{D4B41802-87B8-B1E9-F45C-0494BC703906}"/>
              </a:ext>
            </a:extLst>
          </p:cNvPr>
          <p:cNvSpPr>
            <a:spLocks noGrp="1"/>
          </p:cNvSpPr>
          <p:nvPr>
            <p:ph idx="1"/>
          </p:nvPr>
        </p:nvSpPr>
        <p:spPr>
          <a:xfrm>
            <a:off x="838200" y="1524000"/>
            <a:ext cx="5334000" cy="4652963"/>
          </a:xfrm>
        </p:spPr>
        <p:txBody>
          <a:bodyPr/>
          <a:lstStyle/>
          <a:p>
            <a:r>
              <a:rPr lang="en-US" b="1" dirty="0"/>
              <a:t>Formatting </a:t>
            </a:r>
            <a:r>
              <a:rPr lang="en-US" dirty="0"/>
              <a:t>a disk is the process of preparing it to hold files and folders.</a:t>
            </a:r>
          </a:p>
          <a:p>
            <a:r>
              <a:rPr lang="en-US" b="1" dirty="0"/>
              <a:t>Low-level formatting</a:t>
            </a:r>
            <a:r>
              <a:rPr lang="en-US" dirty="0"/>
              <a:t> lays out the magnetic tracks and sectors of the disk. For contemporary disks it is done at the factory using special equipment. It used to be that was the first task after installing the hardware.</a:t>
            </a:r>
          </a:p>
        </p:txBody>
      </p:sp>
      <p:pic>
        <p:nvPicPr>
          <p:cNvPr id="7" name="Graphic 6">
            <a:extLst>
              <a:ext uri="{FF2B5EF4-FFF2-40B4-BE49-F238E27FC236}">
                <a16:creationId xmlns:a16="http://schemas.microsoft.com/office/drawing/2014/main" id="{36141D30-0F3B-6018-6448-69530EBD48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0800" y="-609600"/>
            <a:ext cx="5715000" cy="5715000"/>
          </a:xfrm>
          <a:prstGeom prst="rect">
            <a:avLst/>
          </a:prstGeom>
        </p:spPr>
      </p:pic>
      <p:sp>
        <p:nvSpPr>
          <p:cNvPr id="8" name="TextBox 7">
            <a:extLst>
              <a:ext uri="{FF2B5EF4-FFF2-40B4-BE49-F238E27FC236}">
                <a16:creationId xmlns:a16="http://schemas.microsoft.com/office/drawing/2014/main" id="{06FE7F62-10A3-DED1-D83C-76ED3A9441E3}"/>
              </a:ext>
            </a:extLst>
          </p:cNvPr>
          <p:cNvSpPr txBox="1"/>
          <p:nvPr/>
        </p:nvSpPr>
        <p:spPr>
          <a:xfrm>
            <a:off x="7924800" y="4724400"/>
            <a:ext cx="3276600" cy="1200329"/>
          </a:xfrm>
          <a:prstGeom prst="rect">
            <a:avLst/>
          </a:prstGeom>
          <a:noFill/>
        </p:spPr>
        <p:txBody>
          <a:bodyPr wrap="square" rtlCol="0">
            <a:spAutoFit/>
          </a:bodyPr>
          <a:lstStyle/>
          <a:p>
            <a:r>
              <a:rPr lang="en-US" dirty="0"/>
              <a:t>A: Track</a:t>
            </a:r>
          </a:p>
          <a:p>
            <a:r>
              <a:rPr lang="en-US" dirty="0"/>
              <a:t>B: Geometrical sector</a:t>
            </a:r>
          </a:p>
          <a:p>
            <a:r>
              <a:rPr lang="en-US" dirty="0"/>
              <a:t>C: Disk sector</a:t>
            </a:r>
          </a:p>
          <a:p>
            <a:r>
              <a:rPr lang="en-US" dirty="0"/>
              <a:t>D: Cluster</a:t>
            </a:r>
          </a:p>
        </p:txBody>
      </p:sp>
      <p:sp>
        <p:nvSpPr>
          <p:cNvPr id="9" name="TextBox 8">
            <a:extLst>
              <a:ext uri="{FF2B5EF4-FFF2-40B4-BE49-F238E27FC236}">
                <a16:creationId xmlns:a16="http://schemas.microsoft.com/office/drawing/2014/main" id="{E93E7369-47B9-57CB-DB6C-19E99F7CA6B3}"/>
              </a:ext>
            </a:extLst>
          </p:cNvPr>
          <p:cNvSpPr txBox="1"/>
          <p:nvPr/>
        </p:nvSpPr>
        <p:spPr>
          <a:xfrm>
            <a:off x="7848600" y="6189663"/>
            <a:ext cx="4191001" cy="430887"/>
          </a:xfrm>
          <a:prstGeom prst="rect">
            <a:avLst/>
          </a:prstGeom>
          <a:noFill/>
        </p:spPr>
        <p:txBody>
          <a:bodyPr wrap="square" rtlCol="0">
            <a:spAutoFit/>
          </a:bodyPr>
          <a:lstStyle/>
          <a:p>
            <a:r>
              <a:rPr lang="en-US" sz="1100" dirty="0"/>
              <a:t>By Heron2/</a:t>
            </a:r>
            <a:r>
              <a:rPr lang="en-US" sz="1100" dirty="0" err="1"/>
              <a:t>MistWiz</a:t>
            </a:r>
            <a:r>
              <a:rPr lang="en-US" sz="1100" dirty="0"/>
              <a:t>, Public Domain, </a:t>
            </a:r>
            <a:r>
              <a:rPr lang="en-US" sz="1100" dirty="0">
                <a:hlinkClick r:id="rId4"/>
              </a:rPr>
              <a:t>https://commons.wikimedia.org/w/index.php?curid=3663963</a:t>
            </a:r>
            <a:endParaRPr lang="en-US" sz="1100" dirty="0"/>
          </a:p>
        </p:txBody>
      </p:sp>
    </p:spTree>
    <p:extLst>
      <p:ext uri="{BB962C8B-B14F-4D97-AF65-F5344CB8AC3E}">
        <p14:creationId xmlns:p14="http://schemas.microsoft.com/office/powerpoint/2010/main" val="4031610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D7B8-7D5A-B9F5-AA99-5F43D93184E1}"/>
              </a:ext>
            </a:extLst>
          </p:cNvPr>
          <p:cNvSpPr>
            <a:spLocks noGrp="1"/>
          </p:cNvSpPr>
          <p:nvPr>
            <p:ph type="title"/>
          </p:nvPr>
        </p:nvSpPr>
        <p:spPr/>
        <p:txBody>
          <a:bodyPr/>
          <a:lstStyle/>
          <a:p>
            <a:r>
              <a:rPr lang="en-US" dirty="0"/>
              <a:t>Bad Sectors</a:t>
            </a:r>
          </a:p>
        </p:txBody>
      </p:sp>
      <p:sp>
        <p:nvSpPr>
          <p:cNvPr id="3" name="Content Placeholder 2">
            <a:extLst>
              <a:ext uri="{FF2B5EF4-FFF2-40B4-BE49-F238E27FC236}">
                <a16:creationId xmlns:a16="http://schemas.microsoft.com/office/drawing/2014/main" id="{DDCB10FF-19CE-90E1-6DB8-3673CE7D5815}"/>
              </a:ext>
            </a:extLst>
          </p:cNvPr>
          <p:cNvSpPr>
            <a:spLocks noGrp="1"/>
          </p:cNvSpPr>
          <p:nvPr>
            <p:ph idx="1"/>
          </p:nvPr>
        </p:nvSpPr>
        <p:spPr>
          <a:xfrm>
            <a:off x="838200" y="1447800"/>
            <a:ext cx="5638800" cy="4729163"/>
          </a:xfrm>
        </p:spPr>
        <p:txBody>
          <a:bodyPr/>
          <a:lstStyle/>
          <a:p>
            <a:r>
              <a:rPr lang="en-US" dirty="0"/>
              <a:t>No disk surface is perfect, all have bad sectors.</a:t>
            </a:r>
          </a:p>
          <a:p>
            <a:r>
              <a:rPr lang="en-US" dirty="0"/>
              <a:t>File systems have ways to mark bad sectors and that used to be done during formatting.</a:t>
            </a:r>
          </a:p>
          <a:p>
            <a:r>
              <a:rPr lang="en-US" dirty="0"/>
              <a:t>Today’s disks have extra sectors and the built-in hardware substitutes an extra sector for each bad one. Thus, disks appear to be perfect even though they are not.</a:t>
            </a:r>
          </a:p>
        </p:txBody>
      </p:sp>
      <p:pic>
        <p:nvPicPr>
          <p:cNvPr id="5" name="Graphic 4">
            <a:extLst>
              <a:ext uri="{FF2B5EF4-FFF2-40B4-BE49-F238E27FC236}">
                <a16:creationId xmlns:a16="http://schemas.microsoft.com/office/drawing/2014/main" id="{E4E80F9D-C33A-2EA3-1E48-74C43446BE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6600" y="990600"/>
            <a:ext cx="4572000" cy="4572000"/>
          </a:xfrm>
          <a:prstGeom prst="rect">
            <a:avLst/>
          </a:prstGeom>
        </p:spPr>
      </p:pic>
      <p:sp>
        <p:nvSpPr>
          <p:cNvPr id="6" name="TextBox 5">
            <a:extLst>
              <a:ext uri="{FF2B5EF4-FFF2-40B4-BE49-F238E27FC236}">
                <a16:creationId xmlns:a16="http://schemas.microsoft.com/office/drawing/2014/main" id="{9CA8636E-41F0-852F-100C-AA59F4E1FA47}"/>
              </a:ext>
            </a:extLst>
          </p:cNvPr>
          <p:cNvSpPr txBox="1"/>
          <p:nvPr/>
        </p:nvSpPr>
        <p:spPr>
          <a:xfrm>
            <a:off x="8763000" y="5285601"/>
            <a:ext cx="3064300" cy="276999"/>
          </a:xfrm>
          <a:prstGeom prst="rect">
            <a:avLst/>
          </a:prstGeom>
          <a:noFill/>
        </p:spPr>
        <p:txBody>
          <a:bodyPr wrap="none" rtlCol="0">
            <a:spAutoFit/>
          </a:bodyPr>
          <a:lstStyle/>
          <a:p>
            <a:r>
              <a:rPr lang="en-US" sz="1200" dirty="0"/>
              <a:t>Image by </a:t>
            </a:r>
            <a:r>
              <a:rPr lang="en-US" sz="1200" dirty="0" err="1"/>
              <a:t>OpenClipart</a:t>
            </a:r>
            <a:r>
              <a:rPr lang="en-US" sz="1200" dirty="0"/>
              <a:t>-Vectors from </a:t>
            </a:r>
            <a:r>
              <a:rPr lang="en-US" sz="1200" dirty="0" err="1"/>
              <a:t>Pixabay</a:t>
            </a:r>
            <a:endParaRPr lang="en-US" sz="1200" dirty="0"/>
          </a:p>
        </p:txBody>
      </p:sp>
    </p:spTree>
    <p:extLst>
      <p:ext uri="{BB962C8B-B14F-4D97-AF65-F5344CB8AC3E}">
        <p14:creationId xmlns:p14="http://schemas.microsoft.com/office/powerpoint/2010/main" val="117480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FCDA5-D356-7196-0DA5-255B1D4D5FB6}"/>
              </a:ext>
            </a:extLst>
          </p:cNvPr>
          <p:cNvSpPr>
            <a:spLocks noGrp="1"/>
          </p:cNvSpPr>
          <p:nvPr>
            <p:ph type="title"/>
          </p:nvPr>
        </p:nvSpPr>
        <p:spPr>
          <a:xfrm>
            <a:off x="838200" y="76201"/>
            <a:ext cx="10515600" cy="838199"/>
          </a:xfrm>
        </p:spPr>
        <p:txBody>
          <a:bodyPr/>
          <a:lstStyle/>
          <a:p>
            <a:r>
              <a:rPr lang="en-US" dirty="0"/>
              <a:t>Flash Media</a:t>
            </a:r>
          </a:p>
        </p:txBody>
      </p:sp>
      <p:sp>
        <p:nvSpPr>
          <p:cNvPr id="3" name="Content Placeholder 2">
            <a:extLst>
              <a:ext uri="{FF2B5EF4-FFF2-40B4-BE49-F238E27FC236}">
                <a16:creationId xmlns:a16="http://schemas.microsoft.com/office/drawing/2014/main" id="{4BAFEBC6-2027-49A8-6AD6-867347489D57}"/>
              </a:ext>
            </a:extLst>
          </p:cNvPr>
          <p:cNvSpPr>
            <a:spLocks noGrp="1"/>
          </p:cNvSpPr>
          <p:nvPr>
            <p:ph idx="1"/>
          </p:nvPr>
        </p:nvSpPr>
        <p:spPr>
          <a:xfrm>
            <a:off x="838200" y="1143000"/>
            <a:ext cx="5638800" cy="5715000"/>
          </a:xfrm>
        </p:spPr>
        <p:txBody>
          <a:bodyPr>
            <a:normAutofit fontScale="92500" lnSpcReduction="10000"/>
          </a:bodyPr>
          <a:lstStyle/>
          <a:p>
            <a:r>
              <a:rPr lang="en-US" dirty="0"/>
              <a:t>Flash media store data as an electrical charge within a solid-state chip.</a:t>
            </a:r>
          </a:p>
          <a:p>
            <a:r>
              <a:rPr lang="en-US" dirty="0"/>
              <a:t>Since there are no moving parts, there is no </a:t>
            </a:r>
            <a:r>
              <a:rPr lang="en-US" b="1" dirty="0"/>
              <a:t>seek time</a:t>
            </a:r>
            <a:r>
              <a:rPr lang="en-US" dirty="0"/>
              <a:t> nor </a:t>
            </a:r>
            <a:r>
              <a:rPr lang="en-US" b="1" dirty="0"/>
              <a:t>rotational latency</a:t>
            </a:r>
            <a:r>
              <a:rPr lang="en-US" dirty="0"/>
              <a:t>. Only </a:t>
            </a:r>
            <a:r>
              <a:rPr lang="en-US" b="1" dirty="0"/>
              <a:t>transfer time</a:t>
            </a:r>
            <a:r>
              <a:rPr lang="en-US" dirty="0"/>
              <a:t> which depends on how fast the chips are made to operate.</a:t>
            </a:r>
          </a:p>
          <a:p>
            <a:r>
              <a:rPr lang="en-US" dirty="0"/>
              <a:t>Flash drives are composed of </a:t>
            </a:r>
            <a:r>
              <a:rPr lang="en-US" b="1" dirty="0"/>
              <a:t>blocks</a:t>
            </a:r>
            <a:r>
              <a:rPr lang="en-US" dirty="0"/>
              <a:t> which are equivalent to </a:t>
            </a:r>
            <a:r>
              <a:rPr lang="en-US" b="1" dirty="0"/>
              <a:t>sectors</a:t>
            </a:r>
            <a:r>
              <a:rPr lang="en-US" dirty="0"/>
              <a:t>.</a:t>
            </a:r>
          </a:p>
          <a:p>
            <a:r>
              <a:rPr lang="en-US" dirty="0"/>
              <a:t>Blocks can wear out after too many writes. Flash drives map logical block numbers to physical ones and spread writes evenly across the whole drive.</a:t>
            </a:r>
          </a:p>
        </p:txBody>
      </p:sp>
      <p:pic>
        <p:nvPicPr>
          <p:cNvPr id="5" name="Graphic 4">
            <a:extLst>
              <a:ext uri="{FF2B5EF4-FFF2-40B4-BE49-F238E27FC236}">
                <a16:creationId xmlns:a16="http://schemas.microsoft.com/office/drawing/2014/main" id="{F7CD048D-581A-85CE-3B2F-DF5966305D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3200" y="762000"/>
            <a:ext cx="5080000" cy="3810000"/>
          </a:xfrm>
          <a:prstGeom prst="rect">
            <a:avLst/>
          </a:prstGeom>
        </p:spPr>
      </p:pic>
      <p:sp>
        <p:nvSpPr>
          <p:cNvPr id="6" name="TextBox 5">
            <a:extLst>
              <a:ext uri="{FF2B5EF4-FFF2-40B4-BE49-F238E27FC236}">
                <a16:creationId xmlns:a16="http://schemas.microsoft.com/office/drawing/2014/main" id="{43C7017B-5EE7-48F8-8F55-69669AA35584}"/>
              </a:ext>
            </a:extLst>
          </p:cNvPr>
          <p:cNvSpPr txBox="1"/>
          <p:nvPr/>
        </p:nvSpPr>
        <p:spPr>
          <a:xfrm>
            <a:off x="7162800" y="5105400"/>
            <a:ext cx="5029262" cy="800219"/>
          </a:xfrm>
          <a:prstGeom prst="rect">
            <a:avLst/>
          </a:prstGeom>
          <a:noFill/>
        </p:spPr>
        <p:txBody>
          <a:bodyPr wrap="none" rtlCol="0">
            <a:spAutoFit/>
          </a:bodyPr>
          <a:lstStyle/>
          <a:p>
            <a:r>
              <a:rPr lang="en-US" dirty="0"/>
              <a:t>Flash cell structure</a:t>
            </a:r>
            <a:br>
              <a:rPr lang="en-US" dirty="0"/>
            </a:br>
            <a:r>
              <a:rPr lang="en-US" sz="1400" dirty="0"/>
              <a:t>By </a:t>
            </a:r>
            <a:r>
              <a:rPr lang="en-US" sz="1400" dirty="0" err="1"/>
              <a:t>Cyferz</a:t>
            </a:r>
            <a:r>
              <a:rPr lang="en-US" sz="1400" dirty="0"/>
              <a:t> at English Wikipedia, CC BY 2.5, </a:t>
            </a:r>
          </a:p>
          <a:p>
            <a:r>
              <a:rPr lang="en-US" sz="1400" dirty="0">
                <a:hlinkClick r:id="rId4"/>
              </a:rPr>
              <a:t>https://commons.wikimedia.org/w/index.php?curid=47813471</a:t>
            </a:r>
            <a:endParaRPr lang="en-US" sz="1400" dirty="0"/>
          </a:p>
        </p:txBody>
      </p:sp>
    </p:spTree>
    <p:extLst>
      <p:ext uri="{BB962C8B-B14F-4D97-AF65-F5344CB8AC3E}">
        <p14:creationId xmlns:p14="http://schemas.microsoft.com/office/powerpoint/2010/main" val="5046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491C9-4DE4-E69D-7032-EB0BD6DD0402}"/>
              </a:ext>
            </a:extLst>
          </p:cNvPr>
          <p:cNvSpPr>
            <a:spLocks noGrp="1"/>
          </p:cNvSpPr>
          <p:nvPr>
            <p:ph type="title"/>
          </p:nvPr>
        </p:nvSpPr>
        <p:spPr>
          <a:xfrm>
            <a:off x="838200" y="365125"/>
            <a:ext cx="10515600" cy="930275"/>
          </a:xfrm>
        </p:spPr>
        <p:txBody>
          <a:bodyPr/>
          <a:lstStyle/>
          <a:p>
            <a:r>
              <a:rPr lang="en-US" dirty="0"/>
              <a:t>Drive Partitions</a:t>
            </a:r>
          </a:p>
        </p:txBody>
      </p:sp>
      <p:sp>
        <p:nvSpPr>
          <p:cNvPr id="3" name="Content Placeholder 2">
            <a:extLst>
              <a:ext uri="{FF2B5EF4-FFF2-40B4-BE49-F238E27FC236}">
                <a16:creationId xmlns:a16="http://schemas.microsoft.com/office/drawing/2014/main" id="{3A1B763E-4BD5-7BB5-6696-BA1FB6198195}"/>
              </a:ext>
            </a:extLst>
          </p:cNvPr>
          <p:cNvSpPr>
            <a:spLocks noGrp="1"/>
          </p:cNvSpPr>
          <p:nvPr>
            <p:ph idx="1"/>
          </p:nvPr>
        </p:nvSpPr>
        <p:spPr>
          <a:xfrm>
            <a:off x="838200" y="1371600"/>
            <a:ext cx="5181600" cy="5105400"/>
          </a:xfrm>
        </p:spPr>
        <p:txBody>
          <a:bodyPr>
            <a:normAutofit lnSpcReduction="10000"/>
          </a:bodyPr>
          <a:lstStyle/>
          <a:p>
            <a:r>
              <a:rPr lang="en-US" dirty="0"/>
              <a:t>A drive is typically divided into </a:t>
            </a:r>
            <a:r>
              <a:rPr lang="en-US" b="1" dirty="0"/>
              <a:t>partitions</a:t>
            </a:r>
            <a:r>
              <a:rPr lang="en-US" dirty="0"/>
              <a:t>, each of which may contain a </a:t>
            </a:r>
            <a:r>
              <a:rPr lang="en-US" b="1" dirty="0"/>
              <a:t>file system</a:t>
            </a:r>
            <a:r>
              <a:rPr lang="en-US" dirty="0"/>
              <a:t>.</a:t>
            </a:r>
          </a:p>
          <a:p>
            <a:r>
              <a:rPr lang="en-US" dirty="0"/>
              <a:t>DOS and Windows originally defined the </a:t>
            </a:r>
            <a:r>
              <a:rPr lang="en-US" b="1" dirty="0"/>
              <a:t>MBR</a:t>
            </a:r>
            <a:r>
              <a:rPr lang="en-US" dirty="0"/>
              <a:t> (older) and </a:t>
            </a:r>
            <a:r>
              <a:rPr lang="en-US" b="1" dirty="0"/>
              <a:t>GPT</a:t>
            </a:r>
            <a:r>
              <a:rPr lang="en-US" dirty="0"/>
              <a:t> (newer) partition table formats. They have since been adopted by most operating systems.</a:t>
            </a:r>
          </a:p>
          <a:p>
            <a:r>
              <a:rPr lang="en-US" dirty="0"/>
              <a:t>The operating system manifests each partition as a separate </a:t>
            </a:r>
            <a:r>
              <a:rPr lang="en-US" b="1" dirty="0"/>
              <a:t>volume</a:t>
            </a:r>
            <a:r>
              <a:rPr lang="en-US" dirty="0"/>
              <a:t> or </a:t>
            </a:r>
            <a:r>
              <a:rPr lang="en-US" b="1" dirty="0"/>
              <a:t>logical drive.</a:t>
            </a:r>
            <a:endParaRPr lang="en-US" dirty="0"/>
          </a:p>
        </p:txBody>
      </p:sp>
      <p:sp>
        <p:nvSpPr>
          <p:cNvPr id="5" name="Rectangle 4">
            <a:extLst>
              <a:ext uri="{FF2B5EF4-FFF2-40B4-BE49-F238E27FC236}">
                <a16:creationId xmlns:a16="http://schemas.microsoft.com/office/drawing/2014/main" id="{64B6C7C5-33A3-49CE-5B29-9AFF5FD730F0}"/>
              </a:ext>
            </a:extLst>
          </p:cNvPr>
          <p:cNvSpPr/>
          <p:nvPr/>
        </p:nvSpPr>
        <p:spPr>
          <a:xfrm>
            <a:off x="7543800" y="1066800"/>
            <a:ext cx="4343400" cy="518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CEDDF7-76FE-F425-683E-D5C91FF25F8D}"/>
              </a:ext>
            </a:extLst>
          </p:cNvPr>
          <p:cNvSpPr txBox="1"/>
          <p:nvPr/>
        </p:nvSpPr>
        <p:spPr>
          <a:xfrm>
            <a:off x="7543800" y="588433"/>
            <a:ext cx="3596626" cy="461665"/>
          </a:xfrm>
          <a:prstGeom prst="rect">
            <a:avLst/>
          </a:prstGeom>
          <a:noFill/>
        </p:spPr>
        <p:txBody>
          <a:bodyPr wrap="none" rtlCol="0">
            <a:spAutoFit/>
          </a:bodyPr>
          <a:lstStyle/>
          <a:p>
            <a:r>
              <a:rPr lang="en-US" sz="2400" dirty="0"/>
              <a:t>Drive (Hard Disk or Flash) </a:t>
            </a:r>
          </a:p>
        </p:txBody>
      </p:sp>
      <p:sp>
        <p:nvSpPr>
          <p:cNvPr id="7" name="Rectangle 6">
            <a:extLst>
              <a:ext uri="{FF2B5EF4-FFF2-40B4-BE49-F238E27FC236}">
                <a16:creationId xmlns:a16="http://schemas.microsoft.com/office/drawing/2014/main" id="{BA824945-E776-AAA3-D056-A94B4B9E4B65}"/>
              </a:ext>
            </a:extLst>
          </p:cNvPr>
          <p:cNvSpPr/>
          <p:nvPr/>
        </p:nvSpPr>
        <p:spPr>
          <a:xfrm>
            <a:off x="7543800" y="1066800"/>
            <a:ext cx="4343400" cy="609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Partition Table</a:t>
            </a:r>
          </a:p>
        </p:txBody>
      </p:sp>
      <p:sp>
        <p:nvSpPr>
          <p:cNvPr id="8" name="Rectangle 7">
            <a:extLst>
              <a:ext uri="{FF2B5EF4-FFF2-40B4-BE49-F238E27FC236}">
                <a16:creationId xmlns:a16="http://schemas.microsoft.com/office/drawing/2014/main" id="{76464C3B-264D-3E02-AD2D-234818D94920}"/>
              </a:ext>
            </a:extLst>
          </p:cNvPr>
          <p:cNvSpPr/>
          <p:nvPr/>
        </p:nvSpPr>
        <p:spPr>
          <a:xfrm>
            <a:off x="7543800" y="1676400"/>
            <a:ext cx="4343400" cy="16764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Partition 1 (Drive C:)</a:t>
            </a:r>
          </a:p>
        </p:txBody>
      </p:sp>
      <p:sp>
        <p:nvSpPr>
          <p:cNvPr id="9" name="Rectangle 8">
            <a:extLst>
              <a:ext uri="{FF2B5EF4-FFF2-40B4-BE49-F238E27FC236}">
                <a16:creationId xmlns:a16="http://schemas.microsoft.com/office/drawing/2014/main" id="{2C3C278E-5652-50E0-E601-F20C3B523A9C}"/>
              </a:ext>
            </a:extLst>
          </p:cNvPr>
          <p:cNvSpPr/>
          <p:nvPr/>
        </p:nvSpPr>
        <p:spPr>
          <a:xfrm>
            <a:off x="7543800" y="3352800"/>
            <a:ext cx="4343400" cy="1676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Partition 2 (Drive D:)</a:t>
            </a:r>
          </a:p>
        </p:txBody>
      </p:sp>
      <p:sp>
        <p:nvSpPr>
          <p:cNvPr id="10" name="Rectangle 9">
            <a:extLst>
              <a:ext uri="{FF2B5EF4-FFF2-40B4-BE49-F238E27FC236}">
                <a16:creationId xmlns:a16="http://schemas.microsoft.com/office/drawing/2014/main" id="{11A157FB-2702-2417-C738-1F59F6D20218}"/>
              </a:ext>
            </a:extLst>
          </p:cNvPr>
          <p:cNvSpPr/>
          <p:nvPr/>
        </p:nvSpPr>
        <p:spPr>
          <a:xfrm>
            <a:off x="7543800" y="5033433"/>
            <a:ext cx="4343400" cy="121496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Partition 3 (Hidden)</a:t>
            </a:r>
          </a:p>
        </p:txBody>
      </p:sp>
    </p:spTree>
    <p:extLst>
      <p:ext uri="{BB962C8B-B14F-4D97-AF65-F5344CB8AC3E}">
        <p14:creationId xmlns:p14="http://schemas.microsoft.com/office/powerpoint/2010/main" val="2264274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E927A-0381-E65D-863C-9022609B2BB1}"/>
              </a:ext>
            </a:extLst>
          </p:cNvPr>
          <p:cNvSpPr>
            <a:spLocks noGrp="1"/>
          </p:cNvSpPr>
          <p:nvPr>
            <p:ph type="title"/>
          </p:nvPr>
        </p:nvSpPr>
        <p:spPr>
          <a:xfrm>
            <a:off x="838200" y="152400"/>
            <a:ext cx="10515600" cy="854075"/>
          </a:xfrm>
        </p:spPr>
        <p:txBody>
          <a:bodyPr/>
          <a:lstStyle/>
          <a:p>
            <a:r>
              <a:rPr lang="en-US" dirty="0"/>
              <a:t>File System: Logical Organization</a:t>
            </a:r>
          </a:p>
        </p:txBody>
      </p:sp>
      <p:sp>
        <p:nvSpPr>
          <p:cNvPr id="4" name="Rectangle 3">
            <a:extLst>
              <a:ext uri="{FF2B5EF4-FFF2-40B4-BE49-F238E27FC236}">
                <a16:creationId xmlns:a16="http://schemas.microsoft.com/office/drawing/2014/main" id="{6B35E0DD-5B5C-3970-BBF1-FAA8ADE4F499}"/>
              </a:ext>
            </a:extLst>
          </p:cNvPr>
          <p:cNvSpPr/>
          <p:nvPr/>
        </p:nvSpPr>
        <p:spPr>
          <a:xfrm>
            <a:off x="4762500" y="1143000"/>
            <a:ext cx="26670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Root Directory</a:t>
            </a:r>
          </a:p>
        </p:txBody>
      </p:sp>
      <p:sp>
        <p:nvSpPr>
          <p:cNvPr id="5" name="Rectangle 4">
            <a:extLst>
              <a:ext uri="{FF2B5EF4-FFF2-40B4-BE49-F238E27FC236}">
                <a16:creationId xmlns:a16="http://schemas.microsoft.com/office/drawing/2014/main" id="{33CC29BE-2539-E85D-3DD6-6DCBEE81C65B}"/>
              </a:ext>
            </a:extLst>
          </p:cNvPr>
          <p:cNvSpPr/>
          <p:nvPr/>
        </p:nvSpPr>
        <p:spPr>
          <a:xfrm>
            <a:off x="533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A</a:t>
            </a:r>
          </a:p>
        </p:txBody>
      </p:sp>
      <p:sp>
        <p:nvSpPr>
          <p:cNvPr id="7" name="Rectangle 6">
            <a:extLst>
              <a:ext uri="{FF2B5EF4-FFF2-40B4-BE49-F238E27FC236}">
                <a16:creationId xmlns:a16="http://schemas.microsoft.com/office/drawing/2014/main" id="{7FCBC5CD-ABBF-C7AF-761B-68ADB8F4DBF0}"/>
              </a:ext>
            </a:extLst>
          </p:cNvPr>
          <p:cNvSpPr/>
          <p:nvPr/>
        </p:nvSpPr>
        <p:spPr>
          <a:xfrm>
            <a:off x="2438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B</a:t>
            </a:r>
          </a:p>
        </p:txBody>
      </p:sp>
      <p:sp>
        <p:nvSpPr>
          <p:cNvPr id="8" name="Rectangle 7">
            <a:extLst>
              <a:ext uri="{FF2B5EF4-FFF2-40B4-BE49-F238E27FC236}">
                <a16:creationId xmlns:a16="http://schemas.microsoft.com/office/drawing/2014/main" id="{DC433A02-EC7F-92AC-79A7-FA452C6662E5}"/>
              </a:ext>
            </a:extLst>
          </p:cNvPr>
          <p:cNvSpPr/>
          <p:nvPr/>
        </p:nvSpPr>
        <p:spPr>
          <a:xfrm>
            <a:off x="4343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C</a:t>
            </a:r>
          </a:p>
        </p:txBody>
      </p:sp>
      <p:sp>
        <p:nvSpPr>
          <p:cNvPr id="10" name="Rectangle: Rounded Corners 9">
            <a:extLst>
              <a:ext uri="{FF2B5EF4-FFF2-40B4-BE49-F238E27FC236}">
                <a16:creationId xmlns:a16="http://schemas.microsoft.com/office/drawing/2014/main" id="{3C4D974F-6BB0-5ED2-23E2-457E89A33AA9}"/>
              </a:ext>
            </a:extLst>
          </p:cNvPr>
          <p:cNvSpPr/>
          <p:nvPr/>
        </p:nvSpPr>
        <p:spPr>
          <a:xfrm>
            <a:off x="6248400" y="24384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X</a:t>
            </a:r>
          </a:p>
        </p:txBody>
      </p:sp>
      <p:sp>
        <p:nvSpPr>
          <p:cNvPr id="11" name="Rectangle: Rounded Corners 10">
            <a:extLst>
              <a:ext uri="{FF2B5EF4-FFF2-40B4-BE49-F238E27FC236}">
                <a16:creationId xmlns:a16="http://schemas.microsoft.com/office/drawing/2014/main" id="{BEEF4795-49B7-9245-E661-5609A0A6D8E0}"/>
              </a:ext>
            </a:extLst>
          </p:cNvPr>
          <p:cNvSpPr/>
          <p:nvPr/>
        </p:nvSpPr>
        <p:spPr>
          <a:xfrm>
            <a:off x="8153400" y="24384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Y</a:t>
            </a:r>
          </a:p>
        </p:txBody>
      </p:sp>
      <p:sp>
        <p:nvSpPr>
          <p:cNvPr id="12" name="Rectangle 11">
            <a:extLst>
              <a:ext uri="{FF2B5EF4-FFF2-40B4-BE49-F238E27FC236}">
                <a16:creationId xmlns:a16="http://schemas.microsoft.com/office/drawing/2014/main" id="{6ED69F2A-8F76-4BFE-73C9-F9C6ED778712}"/>
              </a:ext>
            </a:extLst>
          </p:cNvPr>
          <p:cNvSpPr/>
          <p:nvPr/>
        </p:nvSpPr>
        <p:spPr>
          <a:xfrm>
            <a:off x="76200" y="38862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D</a:t>
            </a:r>
          </a:p>
        </p:txBody>
      </p:sp>
      <p:sp>
        <p:nvSpPr>
          <p:cNvPr id="13" name="Rectangle: Rounded Corners 12">
            <a:extLst>
              <a:ext uri="{FF2B5EF4-FFF2-40B4-BE49-F238E27FC236}">
                <a16:creationId xmlns:a16="http://schemas.microsoft.com/office/drawing/2014/main" id="{38AC80D7-C0E1-7201-65E5-0FB76B024EAB}"/>
              </a:ext>
            </a:extLst>
          </p:cNvPr>
          <p:cNvSpPr/>
          <p:nvPr/>
        </p:nvSpPr>
        <p:spPr>
          <a:xfrm>
            <a:off x="1981200" y="38862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W</a:t>
            </a:r>
          </a:p>
        </p:txBody>
      </p:sp>
      <p:sp>
        <p:nvSpPr>
          <p:cNvPr id="14" name="Rectangle 13">
            <a:extLst>
              <a:ext uri="{FF2B5EF4-FFF2-40B4-BE49-F238E27FC236}">
                <a16:creationId xmlns:a16="http://schemas.microsoft.com/office/drawing/2014/main" id="{DCF50D32-A9DB-146E-5548-E5C5F50DDA4D}"/>
              </a:ext>
            </a:extLst>
          </p:cNvPr>
          <p:cNvSpPr/>
          <p:nvPr/>
        </p:nvSpPr>
        <p:spPr>
          <a:xfrm>
            <a:off x="9296400" y="3915833"/>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E</a:t>
            </a:r>
          </a:p>
        </p:txBody>
      </p:sp>
      <p:sp>
        <p:nvSpPr>
          <p:cNvPr id="15" name="Rectangle: Rounded Corners 14">
            <a:extLst>
              <a:ext uri="{FF2B5EF4-FFF2-40B4-BE49-F238E27FC236}">
                <a16:creationId xmlns:a16="http://schemas.microsoft.com/office/drawing/2014/main" id="{0D50F8C9-153C-9744-A2D8-27239173D28B}"/>
              </a:ext>
            </a:extLst>
          </p:cNvPr>
          <p:cNvSpPr/>
          <p:nvPr/>
        </p:nvSpPr>
        <p:spPr>
          <a:xfrm>
            <a:off x="3886200" y="3915833"/>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V</a:t>
            </a:r>
          </a:p>
        </p:txBody>
      </p:sp>
      <p:sp>
        <p:nvSpPr>
          <p:cNvPr id="16" name="Rectangle 15">
            <a:extLst>
              <a:ext uri="{FF2B5EF4-FFF2-40B4-BE49-F238E27FC236}">
                <a16:creationId xmlns:a16="http://schemas.microsoft.com/office/drawing/2014/main" id="{F3BE7F3C-3858-A83F-58C4-965B51D2F535}"/>
              </a:ext>
            </a:extLst>
          </p:cNvPr>
          <p:cNvSpPr/>
          <p:nvPr/>
        </p:nvSpPr>
        <p:spPr>
          <a:xfrm>
            <a:off x="990600" y="52578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Directory F</a:t>
            </a:r>
          </a:p>
        </p:txBody>
      </p:sp>
      <p:sp>
        <p:nvSpPr>
          <p:cNvPr id="17" name="Rectangle: Rounded Corners 16">
            <a:extLst>
              <a:ext uri="{FF2B5EF4-FFF2-40B4-BE49-F238E27FC236}">
                <a16:creationId xmlns:a16="http://schemas.microsoft.com/office/drawing/2014/main" id="{36B2A4CF-4141-54FA-1533-7948147B21F3}"/>
              </a:ext>
            </a:extLst>
          </p:cNvPr>
          <p:cNvSpPr/>
          <p:nvPr/>
        </p:nvSpPr>
        <p:spPr>
          <a:xfrm>
            <a:off x="10325100" y="52578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T</a:t>
            </a:r>
          </a:p>
        </p:txBody>
      </p:sp>
      <p:sp>
        <p:nvSpPr>
          <p:cNvPr id="18" name="Rectangle: Rounded Corners 17">
            <a:extLst>
              <a:ext uri="{FF2B5EF4-FFF2-40B4-BE49-F238E27FC236}">
                <a16:creationId xmlns:a16="http://schemas.microsoft.com/office/drawing/2014/main" id="{75480E2D-B990-98C0-E7D4-982D4A42E023}"/>
              </a:ext>
            </a:extLst>
          </p:cNvPr>
          <p:cNvSpPr/>
          <p:nvPr/>
        </p:nvSpPr>
        <p:spPr>
          <a:xfrm>
            <a:off x="8382000" y="52578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U</a:t>
            </a:r>
          </a:p>
        </p:txBody>
      </p:sp>
      <p:cxnSp>
        <p:nvCxnSpPr>
          <p:cNvPr id="20" name="Straight Arrow Connector 19">
            <a:extLst>
              <a:ext uri="{FF2B5EF4-FFF2-40B4-BE49-F238E27FC236}">
                <a16:creationId xmlns:a16="http://schemas.microsoft.com/office/drawing/2014/main" id="{4506FDDE-7972-ED11-6C99-2F2A398B6809}"/>
              </a:ext>
            </a:extLst>
          </p:cNvPr>
          <p:cNvCxnSpPr>
            <a:cxnSpLocks/>
            <a:stCxn id="4" idx="2"/>
            <a:endCxn id="5" idx="0"/>
          </p:cNvCxnSpPr>
          <p:nvPr/>
        </p:nvCxnSpPr>
        <p:spPr>
          <a:xfrm flipH="1">
            <a:off x="1409700" y="1676400"/>
            <a:ext cx="4686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4B34DEC-C65C-CC39-F791-AFDD387F72D8}"/>
              </a:ext>
            </a:extLst>
          </p:cNvPr>
          <p:cNvCxnSpPr>
            <a:stCxn id="4" idx="2"/>
            <a:endCxn id="7" idx="0"/>
          </p:cNvCxnSpPr>
          <p:nvPr/>
        </p:nvCxnSpPr>
        <p:spPr>
          <a:xfrm flipH="1">
            <a:off x="3314700" y="1676400"/>
            <a:ext cx="2781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83F31E3-EE4E-1246-E210-FB93C06A0386}"/>
              </a:ext>
            </a:extLst>
          </p:cNvPr>
          <p:cNvCxnSpPr>
            <a:stCxn id="4" idx="2"/>
            <a:endCxn id="8" idx="0"/>
          </p:cNvCxnSpPr>
          <p:nvPr/>
        </p:nvCxnSpPr>
        <p:spPr>
          <a:xfrm flipH="1">
            <a:off x="5219700" y="1676400"/>
            <a:ext cx="876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A8A16FE-0C62-0DFD-C8BA-9453BA73066F}"/>
              </a:ext>
            </a:extLst>
          </p:cNvPr>
          <p:cNvCxnSpPr>
            <a:stCxn id="4" idx="2"/>
            <a:endCxn id="10" idx="0"/>
          </p:cNvCxnSpPr>
          <p:nvPr/>
        </p:nvCxnSpPr>
        <p:spPr>
          <a:xfrm>
            <a:off x="6096000" y="1676400"/>
            <a:ext cx="10287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EC3EF24-C212-7200-FB37-2DDB6960941C}"/>
              </a:ext>
            </a:extLst>
          </p:cNvPr>
          <p:cNvCxnSpPr>
            <a:stCxn id="4" idx="2"/>
            <a:endCxn id="11" idx="0"/>
          </p:cNvCxnSpPr>
          <p:nvPr/>
        </p:nvCxnSpPr>
        <p:spPr>
          <a:xfrm>
            <a:off x="6096000" y="1676400"/>
            <a:ext cx="29337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8D7C5D-E138-27AD-CC2C-4CE3E33C7714}"/>
              </a:ext>
            </a:extLst>
          </p:cNvPr>
          <p:cNvCxnSpPr>
            <a:stCxn id="5" idx="2"/>
            <a:endCxn id="12" idx="0"/>
          </p:cNvCxnSpPr>
          <p:nvPr/>
        </p:nvCxnSpPr>
        <p:spPr>
          <a:xfrm flipH="1">
            <a:off x="952500" y="2971800"/>
            <a:ext cx="457200" cy="9144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607662C9-9EBC-E3EB-2E82-3CFB5539BBAD}"/>
              </a:ext>
            </a:extLst>
          </p:cNvPr>
          <p:cNvCxnSpPr>
            <a:stCxn id="5" idx="2"/>
            <a:endCxn id="13" idx="0"/>
          </p:cNvCxnSpPr>
          <p:nvPr/>
        </p:nvCxnSpPr>
        <p:spPr>
          <a:xfrm>
            <a:off x="1409700" y="2971800"/>
            <a:ext cx="1447800" cy="9144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4D700EB-E56B-4614-601C-59BEBE930BCA}"/>
              </a:ext>
            </a:extLst>
          </p:cNvPr>
          <p:cNvCxnSpPr>
            <a:stCxn id="7" idx="2"/>
            <a:endCxn id="15" idx="0"/>
          </p:cNvCxnSpPr>
          <p:nvPr/>
        </p:nvCxnSpPr>
        <p:spPr>
          <a:xfrm>
            <a:off x="3314700" y="2971800"/>
            <a:ext cx="1447800" cy="944033"/>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975902A-5E6D-2BD5-8207-7BE4B9D51ECC}"/>
              </a:ext>
            </a:extLst>
          </p:cNvPr>
          <p:cNvCxnSpPr>
            <a:stCxn id="8" idx="2"/>
            <a:endCxn id="14" idx="0"/>
          </p:cNvCxnSpPr>
          <p:nvPr/>
        </p:nvCxnSpPr>
        <p:spPr>
          <a:xfrm>
            <a:off x="5219700" y="2971800"/>
            <a:ext cx="4953000" cy="944033"/>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6CC9CBC-F7E8-F899-50FC-4CAE1E236841}"/>
              </a:ext>
            </a:extLst>
          </p:cNvPr>
          <p:cNvCxnSpPr>
            <a:stCxn id="14" idx="2"/>
            <a:endCxn id="18" idx="0"/>
          </p:cNvCxnSpPr>
          <p:nvPr/>
        </p:nvCxnSpPr>
        <p:spPr>
          <a:xfrm flipH="1">
            <a:off x="9258300" y="4449233"/>
            <a:ext cx="914400" cy="8085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41B8120D-2751-DBA5-E815-CB9C5B0361DE}"/>
              </a:ext>
            </a:extLst>
          </p:cNvPr>
          <p:cNvCxnSpPr>
            <a:stCxn id="14" idx="2"/>
            <a:endCxn id="17" idx="0"/>
          </p:cNvCxnSpPr>
          <p:nvPr/>
        </p:nvCxnSpPr>
        <p:spPr>
          <a:xfrm>
            <a:off x="10172700" y="4449233"/>
            <a:ext cx="1028700" cy="8085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1243551-9367-7134-1097-BA10751A3CC1}"/>
              </a:ext>
            </a:extLst>
          </p:cNvPr>
          <p:cNvCxnSpPr>
            <a:stCxn id="12" idx="2"/>
            <a:endCxn id="16" idx="0"/>
          </p:cNvCxnSpPr>
          <p:nvPr/>
        </p:nvCxnSpPr>
        <p:spPr>
          <a:xfrm>
            <a:off x="952500" y="4419600"/>
            <a:ext cx="914400" cy="8382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CF9D7A5F-46B7-CFA8-7EB4-6E1449995EAD}"/>
              </a:ext>
            </a:extLst>
          </p:cNvPr>
          <p:cNvSpPr/>
          <p:nvPr/>
        </p:nvSpPr>
        <p:spPr>
          <a:xfrm>
            <a:off x="2029883" y="6117167"/>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S</a:t>
            </a:r>
          </a:p>
        </p:txBody>
      </p:sp>
      <p:cxnSp>
        <p:nvCxnSpPr>
          <p:cNvPr id="47" name="Straight Arrow Connector 46">
            <a:extLst>
              <a:ext uri="{FF2B5EF4-FFF2-40B4-BE49-F238E27FC236}">
                <a16:creationId xmlns:a16="http://schemas.microsoft.com/office/drawing/2014/main" id="{591CA7B9-B6F3-CC68-5A6A-2513CD2095D1}"/>
              </a:ext>
            </a:extLst>
          </p:cNvPr>
          <p:cNvCxnSpPr>
            <a:stCxn id="16" idx="2"/>
            <a:endCxn id="45" idx="0"/>
          </p:cNvCxnSpPr>
          <p:nvPr/>
        </p:nvCxnSpPr>
        <p:spPr>
          <a:xfrm>
            <a:off x="1866900" y="5791200"/>
            <a:ext cx="1039283" cy="3259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2081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2933-8484-CF45-7216-00905ED79F77}"/>
              </a:ext>
            </a:extLst>
          </p:cNvPr>
          <p:cNvSpPr>
            <a:spLocks noGrp="1"/>
          </p:cNvSpPr>
          <p:nvPr>
            <p:ph type="title"/>
          </p:nvPr>
        </p:nvSpPr>
        <p:spPr>
          <a:xfrm>
            <a:off x="838200" y="228601"/>
            <a:ext cx="10515600" cy="838199"/>
          </a:xfrm>
        </p:spPr>
        <p:txBody>
          <a:bodyPr/>
          <a:lstStyle/>
          <a:p>
            <a:r>
              <a:rPr lang="en-US" dirty="0"/>
              <a:t>Initializing a File System</a:t>
            </a:r>
          </a:p>
        </p:txBody>
      </p:sp>
      <p:sp>
        <p:nvSpPr>
          <p:cNvPr id="3" name="Content Placeholder 2">
            <a:extLst>
              <a:ext uri="{FF2B5EF4-FFF2-40B4-BE49-F238E27FC236}">
                <a16:creationId xmlns:a16="http://schemas.microsoft.com/office/drawing/2014/main" id="{A332A6F2-6105-9022-47E2-9D43EF235312}"/>
              </a:ext>
            </a:extLst>
          </p:cNvPr>
          <p:cNvSpPr>
            <a:spLocks noGrp="1"/>
          </p:cNvSpPr>
          <p:nvPr>
            <p:ph idx="1"/>
          </p:nvPr>
        </p:nvSpPr>
        <p:spPr>
          <a:xfrm>
            <a:off x="838200" y="1219200"/>
            <a:ext cx="10515600" cy="5562600"/>
          </a:xfrm>
        </p:spPr>
        <p:txBody>
          <a:bodyPr>
            <a:normAutofit/>
          </a:bodyPr>
          <a:lstStyle/>
          <a:p>
            <a:r>
              <a:rPr lang="en-US" b="1" dirty="0"/>
              <a:t>High-Level Formatting</a:t>
            </a:r>
            <a:r>
              <a:rPr lang="en-US" dirty="0"/>
              <a:t> lays out a file system on a </a:t>
            </a:r>
            <a:r>
              <a:rPr lang="en-US" b="1" dirty="0"/>
              <a:t>Volume</a:t>
            </a:r>
            <a:r>
              <a:rPr lang="en-US" dirty="0"/>
              <a:t>.</a:t>
            </a:r>
          </a:p>
          <a:p>
            <a:r>
              <a:rPr lang="en-US" dirty="0"/>
              <a:t>Storage is allocated one </a:t>
            </a:r>
            <a:r>
              <a:rPr lang="en-US" b="1" dirty="0"/>
              <a:t>allocation unit</a:t>
            </a:r>
            <a:r>
              <a:rPr lang="en-US" dirty="0"/>
              <a:t> at a time.</a:t>
            </a:r>
          </a:p>
          <a:p>
            <a:r>
              <a:rPr lang="en-US" dirty="0"/>
              <a:t>An allocation unit, also known as a </a:t>
            </a:r>
            <a:r>
              <a:rPr lang="en-US" b="1" dirty="0"/>
              <a:t>cluster</a:t>
            </a:r>
            <a:r>
              <a:rPr lang="en-US" dirty="0"/>
              <a:t> or </a:t>
            </a:r>
            <a:r>
              <a:rPr lang="en-US" b="1" dirty="0"/>
              <a:t>block</a:t>
            </a:r>
            <a:r>
              <a:rPr lang="en-US" dirty="0"/>
              <a:t> is a set of consecutive sectors. Sectors are </a:t>
            </a:r>
            <a:r>
              <a:rPr lang="en-US" i="1" dirty="0"/>
              <a:t>usually</a:t>
            </a:r>
            <a:r>
              <a:rPr lang="en-US" dirty="0"/>
              <a:t> 512 bytes in size and allocation units are </a:t>
            </a:r>
            <a:r>
              <a:rPr lang="en-US" i="1" dirty="0"/>
              <a:t>usually</a:t>
            </a:r>
            <a:r>
              <a:rPr lang="en-US" dirty="0"/>
              <a:t> 4KiB in size. Therefore, a cluster is usually 8 sectors in size.</a:t>
            </a:r>
            <a:endParaRPr lang="en-US" b="1" i="1" dirty="0"/>
          </a:p>
          <a:p>
            <a:r>
              <a:rPr lang="en-US" dirty="0"/>
              <a:t>An </a:t>
            </a:r>
            <a:r>
              <a:rPr lang="en-US" b="1" dirty="0"/>
              <a:t>allocation table</a:t>
            </a:r>
            <a:r>
              <a:rPr lang="en-US" dirty="0"/>
              <a:t> keeps track of which clusters are available and which are in use.</a:t>
            </a:r>
          </a:p>
          <a:p>
            <a:r>
              <a:rPr lang="en-US" dirty="0"/>
              <a:t>The </a:t>
            </a:r>
            <a:r>
              <a:rPr lang="en-US" b="1" dirty="0"/>
              <a:t>root directory</a:t>
            </a:r>
            <a:r>
              <a:rPr lang="en-US" dirty="0"/>
              <a:t> contains pointers to files and to other directories.</a:t>
            </a:r>
          </a:p>
          <a:p>
            <a:r>
              <a:rPr lang="en-US" dirty="0"/>
              <a:t>Files are allocated one cluster at a time. So, on average, there are 2Kib of wasted space per file.</a:t>
            </a:r>
          </a:p>
        </p:txBody>
      </p:sp>
    </p:spTree>
    <p:extLst>
      <p:ext uri="{BB962C8B-B14F-4D97-AF65-F5344CB8AC3E}">
        <p14:creationId xmlns:p14="http://schemas.microsoft.com/office/powerpoint/2010/main" val="358785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FA2F-2B83-21F7-3D81-C5A5C02DA241}"/>
              </a:ext>
            </a:extLst>
          </p:cNvPr>
          <p:cNvSpPr>
            <a:spLocks noGrp="1"/>
          </p:cNvSpPr>
          <p:nvPr>
            <p:ph type="title"/>
          </p:nvPr>
        </p:nvSpPr>
        <p:spPr>
          <a:xfrm>
            <a:off x="838200" y="365125"/>
            <a:ext cx="10515600" cy="777875"/>
          </a:xfrm>
        </p:spPr>
        <p:txBody>
          <a:bodyPr/>
          <a:lstStyle/>
          <a:p>
            <a:r>
              <a:rPr lang="en-US" dirty="0"/>
              <a:t>File Systems</a:t>
            </a:r>
          </a:p>
        </p:txBody>
      </p:sp>
      <p:sp>
        <p:nvSpPr>
          <p:cNvPr id="3" name="Content Placeholder 2">
            <a:extLst>
              <a:ext uri="{FF2B5EF4-FFF2-40B4-BE49-F238E27FC236}">
                <a16:creationId xmlns:a16="http://schemas.microsoft.com/office/drawing/2014/main" id="{E6AFA2A0-56E4-C18C-75DC-4E95827DCB73}"/>
              </a:ext>
            </a:extLst>
          </p:cNvPr>
          <p:cNvSpPr>
            <a:spLocks noGrp="1"/>
          </p:cNvSpPr>
          <p:nvPr>
            <p:ph idx="1"/>
          </p:nvPr>
        </p:nvSpPr>
        <p:spPr>
          <a:xfrm>
            <a:off x="838200" y="1295400"/>
            <a:ext cx="10515600" cy="4881563"/>
          </a:xfrm>
        </p:spPr>
        <p:txBody>
          <a:bodyPr/>
          <a:lstStyle/>
          <a:p>
            <a:pPr marL="0" indent="0">
              <a:buNone/>
            </a:pPr>
            <a:r>
              <a:rPr lang="en-US" dirty="0"/>
              <a:t>A file system is a binary structure for organizing files and allocating storage on a volume. There are many different formats.</a:t>
            </a:r>
          </a:p>
          <a:p>
            <a:pPr marL="0" indent="0">
              <a:buNone/>
            </a:pPr>
            <a:r>
              <a:rPr lang="en-US" dirty="0"/>
              <a:t>Commonly-used file systems:</a:t>
            </a:r>
          </a:p>
          <a:p>
            <a:r>
              <a:rPr lang="en-US" dirty="0"/>
              <a:t>Windows: FAT (FAT12, FAT16, FAT32, and </a:t>
            </a:r>
            <a:r>
              <a:rPr lang="en-US" dirty="0" err="1"/>
              <a:t>exFAT</a:t>
            </a:r>
            <a:r>
              <a:rPr lang="en-US" dirty="0"/>
              <a:t>), NTFS, and </a:t>
            </a:r>
            <a:r>
              <a:rPr lang="en-US" dirty="0" err="1"/>
              <a:t>ReFS</a:t>
            </a:r>
            <a:endParaRPr lang="en-US" dirty="0"/>
          </a:p>
          <a:p>
            <a:r>
              <a:rPr lang="en-US" dirty="0"/>
              <a:t>Linux: FAT32, </a:t>
            </a:r>
            <a:r>
              <a:rPr lang="en-US" dirty="0" err="1"/>
              <a:t>exFAT</a:t>
            </a:r>
            <a:r>
              <a:rPr lang="en-US" dirty="0"/>
              <a:t>, UFS, EXT</a:t>
            </a:r>
          </a:p>
          <a:p>
            <a:r>
              <a:rPr lang="en-US" dirty="0"/>
              <a:t>MacOS: FAT32, </a:t>
            </a:r>
            <a:r>
              <a:rPr lang="en-US" dirty="0" err="1"/>
              <a:t>exFAT</a:t>
            </a:r>
            <a:r>
              <a:rPr lang="en-US" dirty="0"/>
              <a:t>, Mac OS Extended FS, APFS</a:t>
            </a:r>
          </a:p>
        </p:txBody>
      </p:sp>
      <p:grpSp>
        <p:nvGrpSpPr>
          <p:cNvPr id="4" name="Group 3">
            <a:extLst>
              <a:ext uri="{FF2B5EF4-FFF2-40B4-BE49-F238E27FC236}">
                <a16:creationId xmlns:a16="http://schemas.microsoft.com/office/drawing/2014/main" id="{26C4F97E-28A6-63C7-EDDC-B47FA4105A20}"/>
              </a:ext>
            </a:extLst>
          </p:cNvPr>
          <p:cNvGrpSpPr/>
          <p:nvPr/>
        </p:nvGrpSpPr>
        <p:grpSpPr>
          <a:xfrm>
            <a:off x="4495800" y="4610100"/>
            <a:ext cx="5638800" cy="1905000"/>
            <a:chOff x="76200" y="1143000"/>
            <a:chExt cx="12001500" cy="5507567"/>
          </a:xfrm>
        </p:grpSpPr>
        <p:sp>
          <p:nvSpPr>
            <p:cNvPr id="5" name="Rectangle 4">
              <a:extLst>
                <a:ext uri="{FF2B5EF4-FFF2-40B4-BE49-F238E27FC236}">
                  <a16:creationId xmlns:a16="http://schemas.microsoft.com/office/drawing/2014/main" id="{99BC4FF7-FA3D-D39F-570E-1F1AD43FDA33}"/>
                </a:ext>
              </a:extLst>
            </p:cNvPr>
            <p:cNvSpPr/>
            <p:nvPr/>
          </p:nvSpPr>
          <p:spPr>
            <a:xfrm>
              <a:off x="4762500" y="1143000"/>
              <a:ext cx="26670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39F9DB44-2850-823E-724D-2309D52FED73}"/>
                </a:ext>
              </a:extLst>
            </p:cNvPr>
            <p:cNvSpPr/>
            <p:nvPr/>
          </p:nvSpPr>
          <p:spPr>
            <a:xfrm>
              <a:off x="533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62F2C4A-B779-9611-C4BB-2CE3F36DD82B}"/>
                </a:ext>
              </a:extLst>
            </p:cNvPr>
            <p:cNvSpPr/>
            <p:nvPr/>
          </p:nvSpPr>
          <p:spPr>
            <a:xfrm>
              <a:off x="2438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67AF57F-7E44-0724-EF4D-6029DBC4A9FB}"/>
                </a:ext>
              </a:extLst>
            </p:cNvPr>
            <p:cNvSpPr/>
            <p:nvPr/>
          </p:nvSpPr>
          <p:spPr>
            <a:xfrm>
              <a:off x="4343400" y="24384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AF11950C-D6FF-8DA0-8EB2-CD86F0FBB4F9}"/>
                </a:ext>
              </a:extLst>
            </p:cNvPr>
            <p:cNvSpPr/>
            <p:nvPr/>
          </p:nvSpPr>
          <p:spPr>
            <a:xfrm>
              <a:off x="6248400" y="24384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343000F4-F130-FC96-1378-15D2199B3EA1}"/>
                </a:ext>
              </a:extLst>
            </p:cNvPr>
            <p:cNvSpPr/>
            <p:nvPr/>
          </p:nvSpPr>
          <p:spPr>
            <a:xfrm>
              <a:off x="8153400" y="24384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D0FCD4F-D35F-FF7B-9F22-71953FCE35B6}"/>
                </a:ext>
              </a:extLst>
            </p:cNvPr>
            <p:cNvSpPr/>
            <p:nvPr/>
          </p:nvSpPr>
          <p:spPr>
            <a:xfrm>
              <a:off x="76200" y="38862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1C96E06F-FF50-CCAF-0B71-0AA1749B71E2}"/>
                </a:ext>
              </a:extLst>
            </p:cNvPr>
            <p:cNvSpPr/>
            <p:nvPr/>
          </p:nvSpPr>
          <p:spPr>
            <a:xfrm>
              <a:off x="1981200" y="38862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29C86A7-AB04-DEC3-F147-E6EB1F138421}"/>
                </a:ext>
              </a:extLst>
            </p:cNvPr>
            <p:cNvSpPr/>
            <p:nvPr/>
          </p:nvSpPr>
          <p:spPr>
            <a:xfrm>
              <a:off x="9296400" y="3915833"/>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57E9B4A8-58FF-DDE7-FD90-FA2B25BEB196}"/>
                </a:ext>
              </a:extLst>
            </p:cNvPr>
            <p:cNvSpPr/>
            <p:nvPr/>
          </p:nvSpPr>
          <p:spPr>
            <a:xfrm>
              <a:off x="3886200" y="3915833"/>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109E57E-1084-85A7-F669-4E21AB7D5AC2}"/>
                </a:ext>
              </a:extLst>
            </p:cNvPr>
            <p:cNvSpPr/>
            <p:nvPr/>
          </p:nvSpPr>
          <p:spPr>
            <a:xfrm>
              <a:off x="990600" y="5257800"/>
              <a:ext cx="1752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9228BE1F-6EA4-FB74-351E-FE6DA4767850}"/>
                </a:ext>
              </a:extLst>
            </p:cNvPr>
            <p:cNvSpPr/>
            <p:nvPr/>
          </p:nvSpPr>
          <p:spPr>
            <a:xfrm>
              <a:off x="10325100" y="52578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A3E3CC4B-2797-11A1-CF7C-457F53CC3DBD}"/>
                </a:ext>
              </a:extLst>
            </p:cNvPr>
            <p:cNvSpPr/>
            <p:nvPr/>
          </p:nvSpPr>
          <p:spPr>
            <a:xfrm>
              <a:off x="8382000" y="5257800"/>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BC21EC5D-25E7-1850-7843-D0C122923CE1}"/>
                </a:ext>
              </a:extLst>
            </p:cNvPr>
            <p:cNvCxnSpPr>
              <a:cxnSpLocks/>
              <a:stCxn id="5" idx="2"/>
              <a:endCxn id="6" idx="0"/>
            </p:cNvCxnSpPr>
            <p:nvPr/>
          </p:nvCxnSpPr>
          <p:spPr>
            <a:xfrm flipH="1">
              <a:off x="1409700" y="1676400"/>
              <a:ext cx="4686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0FEA33E-3BDD-2091-3C97-02DF7A5FEBD2}"/>
                </a:ext>
              </a:extLst>
            </p:cNvPr>
            <p:cNvCxnSpPr>
              <a:stCxn id="5" idx="2"/>
              <a:endCxn id="7" idx="0"/>
            </p:cNvCxnSpPr>
            <p:nvPr/>
          </p:nvCxnSpPr>
          <p:spPr>
            <a:xfrm flipH="1">
              <a:off x="3314700" y="1676400"/>
              <a:ext cx="2781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81317CB-5D10-33A1-3349-661E85232D01}"/>
                </a:ext>
              </a:extLst>
            </p:cNvPr>
            <p:cNvCxnSpPr>
              <a:stCxn id="5" idx="2"/>
              <a:endCxn id="8" idx="0"/>
            </p:cNvCxnSpPr>
            <p:nvPr/>
          </p:nvCxnSpPr>
          <p:spPr>
            <a:xfrm flipH="1">
              <a:off x="5219700" y="1676400"/>
              <a:ext cx="8763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4F12F91-F818-1187-0921-586F77B814B6}"/>
                </a:ext>
              </a:extLst>
            </p:cNvPr>
            <p:cNvCxnSpPr>
              <a:stCxn id="5" idx="2"/>
              <a:endCxn id="9" idx="0"/>
            </p:cNvCxnSpPr>
            <p:nvPr/>
          </p:nvCxnSpPr>
          <p:spPr>
            <a:xfrm>
              <a:off x="6096000" y="1676400"/>
              <a:ext cx="10287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E310958-56F7-FDC3-27E0-2CA4A3867ABD}"/>
                </a:ext>
              </a:extLst>
            </p:cNvPr>
            <p:cNvCxnSpPr>
              <a:stCxn id="5" idx="2"/>
              <a:endCxn id="10" idx="0"/>
            </p:cNvCxnSpPr>
            <p:nvPr/>
          </p:nvCxnSpPr>
          <p:spPr>
            <a:xfrm>
              <a:off x="6096000" y="1676400"/>
              <a:ext cx="2933700" cy="7620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95EE7F9-7680-08E6-DDE4-75655F64D9CF}"/>
                </a:ext>
              </a:extLst>
            </p:cNvPr>
            <p:cNvCxnSpPr>
              <a:stCxn id="6" idx="2"/>
              <a:endCxn id="11" idx="0"/>
            </p:cNvCxnSpPr>
            <p:nvPr/>
          </p:nvCxnSpPr>
          <p:spPr>
            <a:xfrm flipH="1">
              <a:off x="952500" y="2971800"/>
              <a:ext cx="457200" cy="9144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C56F060-D8A3-94C1-2EA2-845CDAB37B4A}"/>
                </a:ext>
              </a:extLst>
            </p:cNvPr>
            <p:cNvCxnSpPr>
              <a:stCxn id="6" idx="2"/>
              <a:endCxn id="12" idx="0"/>
            </p:cNvCxnSpPr>
            <p:nvPr/>
          </p:nvCxnSpPr>
          <p:spPr>
            <a:xfrm>
              <a:off x="1409700" y="2971800"/>
              <a:ext cx="1447800" cy="9144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0C0ADC-3B21-16CD-F6FC-5625B2A5CCC7}"/>
                </a:ext>
              </a:extLst>
            </p:cNvPr>
            <p:cNvCxnSpPr>
              <a:stCxn id="7" idx="2"/>
              <a:endCxn id="14" idx="0"/>
            </p:cNvCxnSpPr>
            <p:nvPr/>
          </p:nvCxnSpPr>
          <p:spPr>
            <a:xfrm>
              <a:off x="3314700" y="2971800"/>
              <a:ext cx="1447800" cy="944033"/>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747C132-16B9-08A6-1809-76B15D26F80E}"/>
                </a:ext>
              </a:extLst>
            </p:cNvPr>
            <p:cNvCxnSpPr>
              <a:stCxn id="8" idx="2"/>
              <a:endCxn id="13" idx="0"/>
            </p:cNvCxnSpPr>
            <p:nvPr/>
          </p:nvCxnSpPr>
          <p:spPr>
            <a:xfrm>
              <a:off x="5219700" y="2971800"/>
              <a:ext cx="4953000" cy="944033"/>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3BFFEBF-0831-7627-9BAA-CA69347B09B2}"/>
                </a:ext>
              </a:extLst>
            </p:cNvPr>
            <p:cNvCxnSpPr>
              <a:stCxn id="13" idx="2"/>
              <a:endCxn id="17" idx="0"/>
            </p:cNvCxnSpPr>
            <p:nvPr/>
          </p:nvCxnSpPr>
          <p:spPr>
            <a:xfrm flipH="1">
              <a:off x="9258300" y="4449233"/>
              <a:ext cx="914400" cy="8085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2DAF6CD-F3BB-CB13-4E29-E9E4D5FC5470}"/>
                </a:ext>
              </a:extLst>
            </p:cNvPr>
            <p:cNvCxnSpPr>
              <a:stCxn id="13" idx="2"/>
              <a:endCxn id="16" idx="0"/>
            </p:cNvCxnSpPr>
            <p:nvPr/>
          </p:nvCxnSpPr>
          <p:spPr>
            <a:xfrm>
              <a:off x="10172700" y="4449233"/>
              <a:ext cx="1028700" cy="8085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7A80AEF-D465-58D3-9F92-B4C5B382708C}"/>
                </a:ext>
              </a:extLst>
            </p:cNvPr>
            <p:cNvCxnSpPr>
              <a:stCxn id="11" idx="2"/>
              <a:endCxn id="15" idx="0"/>
            </p:cNvCxnSpPr>
            <p:nvPr/>
          </p:nvCxnSpPr>
          <p:spPr>
            <a:xfrm>
              <a:off x="952500" y="4419600"/>
              <a:ext cx="914400" cy="838200"/>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51EF9E9A-7BC3-9B84-2CB4-B525D83E862D}"/>
                </a:ext>
              </a:extLst>
            </p:cNvPr>
            <p:cNvSpPr/>
            <p:nvPr/>
          </p:nvSpPr>
          <p:spPr>
            <a:xfrm>
              <a:off x="2029883" y="6117167"/>
              <a:ext cx="1752600" cy="5334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Arrow Connector 30">
              <a:extLst>
                <a:ext uri="{FF2B5EF4-FFF2-40B4-BE49-F238E27FC236}">
                  <a16:creationId xmlns:a16="http://schemas.microsoft.com/office/drawing/2014/main" id="{F8953E51-B20A-FAAD-0F3E-391110F417EF}"/>
                </a:ext>
              </a:extLst>
            </p:cNvPr>
            <p:cNvCxnSpPr>
              <a:stCxn id="15" idx="2"/>
              <a:endCxn id="30" idx="0"/>
            </p:cNvCxnSpPr>
            <p:nvPr/>
          </p:nvCxnSpPr>
          <p:spPr>
            <a:xfrm>
              <a:off x="1866900" y="5791200"/>
              <a:ext cx="1039283" cy="32596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98276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E07EA-B450-925F-1AF6-654BB7DD19FE}"/>
              </a:ext>
            </a:extLst>
          </p:cNvPr>
          <p:cNvSpPr>
            <a:spLocks noGrp="1"/>
          </p:cNvSpPr>
          <p:nvPr>
            <p:ph type="title"/>
          </p:nvPr>
        </p:nvSpPr>
        <p:spPr>
          <a:xfrm>
            <a:off x="838200" y="76201"/>
            <a:ext cx="10515600" cy="685799"/>
          </a:xfrm>
        </p:spPr>
        <p:txBody>
          <a:bodyPr>
            <a:normAutofit fontScale="90000"/>
          </a:bodyPr>
          <a:lstStyle/>
          <a:p>
            <a:r>
              <a:rPr lang="en-US" dirty="0"/>
              <a:t>Optical Disks</a:t>
            </a:r>
          </a:p>
        </p:txBody>
      </p:sp>
      <p:sp>
        <p:nvSpPr>
          <p:cNvPr id="3" name="Content Placeholder 2">
            <a:extLst>
              <a:ext uri="{FF2B5EF4-FFF2-40B4-BE49-F238E27FC236}">
                <a16:creationId xmlns:a16="http://schemas.microsoft.com/office/drawing/2014/main" id="{9825C330-53D5-37DB-6391-E00F3B4007F1}"/>
              </a:ext>
            </a:extLst>
          </p:cNvPr>
          <p:cNvSpPr>
            <a:spLocks noGrp="1"/>
          </p:cNvSpPr>
          <p:nvPr>
            <p:ph idx="1"/>
          </p:nvPr>
        </p:nvSpPr>
        <p:spPr>
          <a:xfrm>
            <a:off x="457200" y="990600"/>
            <a:ext cx="9525000" cy="5638800"/>
          </a:xfrm>
        </p:spPr>
        <p:txBody>
          <a:bodyPr>
            <a:normAutofit/>
          </a:bodyPr>
          <a:lstStyle/>
          <a:p>
            <a:r>
              <a:rPr lang="en-US" dirty="0"/>
              <a:t>Optical disks, CD, DVD, and Blu-Ray, have one spiral track that starts at the center and moves outward.</a:t>
            </a:r>
          </a:p>
          <a:p>
            <a:r>
              <a:rPr lang="en-US" dirty="0"/>
              <a:t>Optical disk drives can spin the disk at different speeds depending on what they are doing (reading, burning, seeking, etc.)</a:t>
            </a:r>
          </a:p>
          <a:p>
            <a:r>
              <a:rPr lang="en-US" dirty="0"/>
              <a:t>Since optical disks are typically written</a:t>
            </a:r>
            <a:br>
              <a:rPr lang="en-US" dirty="0"/>
            </a:br>
            <a:r>
              <a:rPr lang="en-US" dirty="0"/>
              <a:t>all at once (burning) or mass-produced</a:t>
            </a:r>
            <a:br>
              <a:rPr lang="en-US" dirty="0"/>
            </a:br>
            <a:r>
              <a:rPr lang="en-US" dirty="0"/>
              <a:t>(stamped), files are laid out contiguously,</a:t>
            </a:r>
            <a:br>
              <a:rPr lang="en-US" dirty="0"/>
            </a:br>
            <a:r>
              <a:rPr lang="en-US" dirty="0"/>
              <a:t>one after another, and there is no need to</a:t>
            </a:r>
            <a:br>
              <a:rPr lang="en-US" dirty="0"/>
            </a:br>
            <a:r>
              <a:rPr lang="en-US" dirty="0"/>
              <a:t>keep track of unused clusters.</a:t>
            </a:r>
          </a:p>
          <a:p>
            <a:r>
              <a:rPr lang="en-US" dirty="0"/>
              <a:t>Optical file systems are ISO 9660 (older)</a:t>
            </a:r>
            <a:br>
              <a:rPr lang="en-US" dirty="0"/>
            </a:br>
            <a:r>
              <a:rPr lang="en-US" dirty="0"/>
              <a:t>and UDF (newer). Both are supported by</a:t>
            </a:r>
            <a:br>
              <a:rPr lang="en-US" dirty="0"/>
            </a:br>
            <a:r>
              <a:rPr lang="en-US" dirty="0"/>
              <a:t>Windows, MacOS, and Linux.</a:t>
            </a:r>
          </a:p>
        </p:txBody>
      </p:sp>
      <p:pic>
        <p:nvPicPr>
          <p:cNvPr id="1026" name="Picture 2" descr="What is an Optical Disc - javatpoint">
            <a:extLst>
              <a:ext uri="{FF2B5EF4-FFF2-40B4-BE49-F238E27FC236}">
                <a16:creationId xmlns:a16="http://schemas.microsoft.com/office/drawing/2014/main" id="{6A4BB839-7E67-A269-DFD9-34228922A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3425750"/>
            <a:ext cx="4333875"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423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2">
              <a:lumMod val="75000"/>
            </a:schemeClr>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889</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File System Basics</vt:lpstr>
      <vt:lpstr>Magnetic Disk Storage</vt:lpstr>
      <vt:lpstr>PowerPoint Presentation</vt:lpstr>
      <vt:lpstr>Formatting</vt:lpstr>
      <vt:lpstr>Bad Sectors</vt:lpstr>
      <vt:lpstr>Flash Media</vt:lpstr>
      <vt:lpstr>Drive Partitions</vt:lpstr>
      <vt:lpstr>File System: Logical Organization</vt:lpstr>
      <vt:lpstr>Initializing a File System</vt:lpstr>
      <vt:lpstr>File Systems</vt:lpstr>
      <vt:lpstr>Optical Disks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2024-10-07T02:42:00Z</dcterms:created>
  <dcterms:modified xsi:type="dcterms:W3CDTF">2024-10-14T16:31:54Z</dcterms:modified>
</cp:coreProperties>
</file>